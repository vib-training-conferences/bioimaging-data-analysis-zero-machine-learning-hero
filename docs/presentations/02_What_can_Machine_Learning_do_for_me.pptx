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77" r:id="rId3"/>
    <p:sldId id="279" r:id="rId4"/>
    <p:sldId id="259" r:id="rId5"/>
    <p:sldId id="281" r:id="rId6"/>
    <p:sldId id="280" r:id="rId7"/>
    <p:sldId id="257" r:id="rId8"/>
    <p:sldId id="278" r:id="rId9"/>
    <p:sldId id="258" r:id="rId10"/>
    <p:sldId id="260" r:id="rId11"/>
    <p:sldId id="282" r:id="rId12"/>
    <p:sldId id="262" r:id="rId13"/>
    <p:sldId id="263" r:id="rId14"/>
    <p:sldId id="288" r:id="rId15"/>
    <p:sldId id="275" r:id="rId16"/>
    <p:sldId id="274" r:id="rId17"/>
    <p:sldId id="276" r:id="rId18"/>
    <p:sldId id="283" r:id="rId19"/>
    <p:sldId id="272" r:id="rId20"/>
    <p:sldId id="261" r:id="rId21"/>
    <p:sldId id="273" r:id="rId22"/>
    <p:sldId id="271" r:id="rId23"/>
    <p:sldId id="285" r:id="rId24"/>
    <p:sldId id="286" r:id="rId25"/>
    <p:sldId id="270" r:id="rId26"/>
    <p:sldId id="287" r:id="rId27"/>
    <p:sldId id="290" r:id="rId28"/>
    <p:sldId id="289" r:id="rId29"/>
    <p:sldId id="264" r:id="rId30"/>
    <p:sldId id="265" r:id="rId31"/>
    <p:sldId id="266" r:id="rId32"/>
    <p:sldId id="267" r:id="rId33"/>
    <p:sldId id="268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9E241-CBFF-675E-E97D-D67DA6C4222B}" v="8" dt="2026-10-07T13:26:17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 Wheeler" userId="S::awheeler@ed.ac.uk::e5e0f7fb-23fb-4bfe-8b95-75f10fe5e04a" providerId="AD" clId="Web-{2309E241-CBFF-675E-E97D-D67DA6C4222B}"/>
    <pc:docChg chg="addSld delSld modSld">
      <pc:chgData name="Ann Wheeler" userId="S::awheeler@ed.ac.uk::e5e0f7fb-23fb-4bfe-8b95-75f10fe5e04a" providerId="AD" clId="Web-{2309E241-CBFF-675E-E97D-D67DA6C4222B}" dt="2026-10-07T13:26:17.710" v="7" actId="1076"/>
      <pc:docMkLst>
        <pc:docMk/>
      </pc:docMkLst>
      <pc:sldChg chg="addSp delSp modSp">
        <pc:chgData name="Ann Wheeler" userId="S::awheeler@ed.ac.uk::e5e0f7fb-23fb-4bfe-8b95-75f10fe5e04a" providerId="AD" clId="Web-{2309E241-CBFF-675E-E97D-D67DA6C4222B}" dt="2026-10-07T13:26:17.710" v="7" actId="1076"/>
        <pc:sldMkLst>
          <pc:docMk/>
          <pc:sldMk cId="1672673086" sldId="289"/>
        </pc:sldMkLst>
        <pc:spChg chg="del">
          <ac:chgData name="Ann Wheeler" userId="S::awheeler@ed.ac.uk::e5e0f7fb-23fb-4bfe-8b95-75f10fe5e04a" providerId="AD" clId="Web-{2309E241-CBFF-675E-E97D-D67DA6C4222B}" dt="2026-10-07T13:25:14.471" v="4"/>
          <ac:spMkLst>
            <pc:docMk/>
            <pc:sldMk cId="1672673086" sldId="289"/>
            <ac:spMk id="3" creationId="{A724BE71-1A2B-AB60-48F7-FB70F7BC216B}"/>
          </ac:spMkLst>
        </pc:spChg>
        <pc:spChg chg="add del mod">
          <ac:chgData name="Ann Wheeler" userId="S::awheeler@ed.ac.uk::e5e0f7fb-23fb-4bfe-8b95-75f10fe5e04a" providerId="AD" clId="Web-{2309E241-CBFF-675E-E97D-D67DA6C4222B}" dt="2026-10-07T13:25:20.612" v="5"/>
          <ac:spMkLst>
            <pc:docMk/>
            <pc:sldMk cId="1672673086" sldId="289"/>
            <ac:spMk id="6" creationId="{E3A4DA89-0E5A-104B-7E96-5B53C2FC7F0D}"/>
          </ac:spMkLst>
        </pc:spChg>
        <pc:picChg chg="del">
          <ac:chgData name="Ann Wheeler" userId="S::awheeler@ed.ac.uk::e5e0f7fb-23fb-4bfe-8b95-75f10fe5e04a" providerId="AD" clId="Web-{2309E241-CBFF-675E-E97D-D67DA6C4222B}" dt="2026-10-07T13:25:11.736" v="3"/>
          <ac:picMkLst>
            <pc:docMk/>
            <pc:sldMk cId="1672673086" sldId="289"/>
            <ac:picMk id="5" creationId="{B896E8D4-D286-2FA0-B7F5-767C34BB4452}"/>
          </ac:picMkLst>
        </pc:picChg>
        <pc:picChg chg="add mod">
          <ac:chgData name="Ann Wheeler" userId="S::awheeler@ed.ac.uk::e5e0f7fb-23fb-4bfe-8b95-75f10fe5e04a" providerId="AD" clId="Web-{2309E241-CBFF-675E-E97D-D67DA6C4222B}" dt="2026-10-07T13:26:17.710" v="7" actId="1076"/>
          <ac:picMkLst>
            <pc:docMk/>
            <pc:sldMk cId="1672673086" sldId="289"/>
            <ac:picMk id="7" creationId="{75D21336-A511-39E9-B47F-2E6BD8FE4485}"/>
          </ac:picMkLst>
        </pc:picChg>
      </pc:sldChg>
      <pc:sldChg chg="addSp">
        <pc:chgData name="Ann Wheeler" userId="S::awheeler@ed.ac.uk::e5e0f7fb-23fb-4bfe-8b95-75f10fe5e04a" providerId="AD" clId="Web-{2309E241-CBFF-675E-E97D-D67DA6C4222B}" dt="2026-10-07T13:24:26.655" v="0"/>
        <pc:sldMkLst>
          <pc:docMk/>
          <pc:sldMk cId="2977087383" sldId="290"/>
        </pc:sldMkLst>
        <pc:graphicFrameChg chg="add">
          <ac:chgData name="Ann Wheeler" userId="S::awheeler@ed.ac.uk::e5e0f7fb-23fb-4bfe-8b95-75f10fe5e04a" providerId="AD" clId="Web-{2309E241-CBFF-675E-E97D-D67DA6C4222B}" dt="2026-10-07T13:24:26.655" v="0"/>
          <ac:graphicFrameMkLst>
            <pc:docMk/>
            <pc:sldMk cId="2977087383" sldId="290"/>
            <ac:graphicFrameMk id="3" creationId="{8F0F7496-8DB2-F7F4-FD77-91AC6886AB76}"/>
          </ac:graphicFrameMkLst>
        </pc:graphicFrameChg>
      </pc:sldChg>
      <pc:sldChg chg="new del">
        <pc:chgData name="Ann Wheeler" userId="S::awheeler@ed.ac.uk::e5e0f7fb-23fb-4bfe-8b95-75f10fe5e04a" providerId="AD" clId="Web-{2309E241-CBFF-675E-E97D-D67DA6C4222B}" dt="2026-10-07T13:25:06.580" v="2"/>
        <pc:sldMkLst>
          <pc:docMk/>
          <pc:sldMk cId="1589860686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Sebastian for his input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76cf302f_17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76cf302f_17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d8ea48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d8ea48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76cf302f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76cf302f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76cf302f_17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b76cf302f_17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76cf302f_17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b76cf302f_17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5e0b98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5e0b98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76cf302f_1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76cf302f_17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d8ea48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8d8ea48a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5e0b985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a5e0b985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5e0b985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5e0b985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5e0b985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a5e0b985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5e0b98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5e0b98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5e0b985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a5e0b985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oimage.io/#/model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2-024-02295-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rUt1aG_AXh8?feature=oembed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1/2024.06.03.597232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microsoft.com/office/2011/relationships/webextension" Target="../webextensions/webextension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Machine Learning do for me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AABC5B-9AA8-BFC6-7D6D-B79C7E61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444500"/>
            <a:ext cx="8521700" cy="573088"/>
          </a:xfrm>
        </p:spPr>
        <p:txBody>
          <a:bodyPr>
            <a:normAutofit fontScale="90000"/>
          </a:bodyPr>
          <a:lstStyle/>
          <a:p>
            <a:r>
              <a:rPr lang="en-GB" dirty="0"/>
              <a:t>Do we already use Machine Learning ‘stuff’ 1?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6C5F2-C361-F679-C18F-BBE7349CDAE1}"/>
              </a:ext>
            </a:extLst>
          </p:cNvPr>
          <p:cNvSpPr txBox="1"/>
          <p:nvPr/>
        </p:nvSpPr>
        <p:spPr>
          <a:xfrm>
            <a:off x="5825266" y="4699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https://machinelearningmastery.com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AB0E3-C485-E5E6-0E33-0B3D285C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3" y="1262062"/>
            <a:ext cx="2076394" cy="3120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C6BBD9-0329-7083-8867-A130746A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261" y="1614095"/>
            <a:ext cx="2872964" cy="19153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51E488-624F-CA01-F356-3FA5944FF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845" y="1086521"/>
            <a:ext cx="2234454" cy="335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3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2A57-74B7-3BB6-8367-DB37831F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39" y="352821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Why bother with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5923B-D1C9-743B-7615-E0604CBBC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825" y="1727100"/>
            <a:ext cx="7605928" cy="3416400"/>
          </a:xfrm>
        </p:spPr>
        <p:txBody>
          <a:bodyPr>
            <a:normAutofit/>
          </a:bodyPr>
          <a:lstStyle/>
          <a:p>
            <a:r>
              <a:rPr lang="en-GB" dirty="0"/>
              <a:t>We have Data (x), we want to know how this data can allow us to infer what that data means (Y). The inference is an unknown function F</a:t>
            </a:r>
          </a:p>
          <a:p>
            <a:r>
              <a:rPr lang="en-GB" dirty="0"/>
              <a:t>Since its biological data there is very likely to be some error involved.</a:t>
            </a:r>
          </a:p>
          <a:p>
            <a:endParaRPr lang="en-GB" dirty="0"/>
          </a:p>
          <a:p>
            <a:pPr marL="114300" indent="0" algn="ctr">
              <a:buNone/>
            </a:pPr>
            <a:r>
              <a:rPr lang="en-GB" dirty="0"/>
              <a:t>F(x) + error = Y</a:t>
            </a:r>
          </a:p>
          <a:p>
            <a:pPr marL="114300" indent="0" algn="ctr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We could spend a very long time trying to establish F. Or …….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F1785-7DA5-9C13-1D14-AD892592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507" y="3118698"/>
            <a:ext cx="1438275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AA5BE-4D1A-DEF5-058B-B413E7B9B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9050"/>
            <a:ext cx="54578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33241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How Image analysis can be done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C4C37-524D-A707-6CDF-BF4F5001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06" y="1099406"/>
            <a:ext cx="3513221" cy="2570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4BEBA8-E100-D556-0F80-3853CD1A4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06" y="3910949"/>
            <a:ext cx="3428178" cy="924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94173D-A066-F556-C3C2-F01AC4AC2FAF}"/>
              </a:ext>
            </a:extLst>
          </p:cNvPr>
          <p:cNvSpPr txBox="1"/>
          <p:nvPr/>
        </p:nvSpPr>
        <p:spPr>
          <a:xfrm>
            <a:off x="4572000" y="4142312"/>
            <a:ext cx="4260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New for 2026 (no thankyou)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FEEBBAB6-2F00-33B4-83CB-74BB95DCBD23}"/>
              </a:ext>
            </a:extLst>
          </p:cNvPr>
          <p:cNvSpPr/>
          <p:nvPr/>
        </p:nvSpPr>
        <p:spPr>
          <a:xfrm>
            <a:off x="3733227" y="4142312"/>
            <a:ext cx="756271" cy="4616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8DF11-4046-9A77-FD26-8E18C8883585}"/>
              </a:ext>
            </a:extLst>
          </p:cNvPr>
          <p:cNvSpPr txBox="1"/>
          <p:nvPr/>
        </p:nvSpPr>
        <p:spPr>
          <a:xfrm>
            <a:off x="4196158" y="2546169"/>
            <a:ext cx="3719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Covered in this course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EA3E3-FEB3-10B5-F5E5-409D9AE10453}"/>
              </a:ext>
            </a:extLst>
          </p:cNvPr>
          <p:cNvSpPr txBox="1"/>
          <p:nvPr/>
        </p:nvSpPr>
        <p:spPr>
          <a:xfrm>
            <a:off x="4072404" y="1411691"/>
            <a:ext cx="4150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Old </a:t>
            </a:r>
            <a:r>
              <a:rPr lang="en-GB" sz="2400" dirty="0" err="1"/>
              <a:t>skool</a:t>
            </a:r>
            <a:r>
              <a:rPr lang="en-GB" sz="2400" dirty="0"/>
              <a:t> (human learning)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DF8FC57-B8EE-563A-2A05-CAF33523667B}"/>
              </a:ext>
            </a:extLst>
          </p:cNvPr>
          <p:cNvSpPr/>
          <p:nvPr/>
        </p:nvSpPr>
        <p:spPr>
          <a:xfrm>
            <a:off x="3856980" y="2261937"/>
            <a:ext cx="288758" cy="1127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440EAF4-87D5-5903-CEB5-9011F306A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3548" y="1085504"/>
            <a:ext cx="4985905" cy="3988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ACAB1-6DA6-CDCB-EBCF-F6230A8B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goes into Machine learning?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Is it simply a black box?</a:t>
            </a:r>
            <a:br>
              <a:rPr lang="en-GB" dirty="0"/>
            </a:br>
            <a:r>
              <a:rPr lang="en-GB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4B57C-C4BF-F086-3035-03F2714A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53" y="2641555"/>
            <a:ext cx="1698210" cy="952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2B7F76-0EBF-A9B3-A878-D82503440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09" y="2531958"/>
            <a:ext cx="1642223" cy="10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9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E195-3E03-A7EA-363F-30C5CDEA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/>
              <a:t>We are familiar with some of the methods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CFA8E-55D2-611A-608D-5D3FE89FE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Regression / regularisation Algorithms (Linear regression, least squares)</a:t>
            </a:r>
          </a:p>
          <a:p>
            <a:r>
              <a:rPr lang="en-GB" sz="1600" dirty="0"/>
              <a:t>Instance-based Algorithms - requires training data. (SVM, K nearest neighbour)</a:t>
            </a:r>
          </a:p>
          <a:p>
            <a:r>
              <a:rPr lang="en-GB" sz="1600" dirty="0"/>
              <a:t>Decision Tree Algorithms</a:t>
            </a:r>
          </a:p>
          <a:p>
            <a:r>
              <a:rPr lang="en-GB" sz="1600" dirty="0"/>
              <a:t>Bayesian Algorithms</a:t>
            </a:r>
          </a:p>
          <a:p>
            <a:r>
              <a:rPr lang="en-GB" sz="1600" dirty="0"/>
              <a:t>Clustering Algorithms (K means, Hierarchical)</a:t>
            </a:r>
          </a:p>
          <a:p>
            <a:r>
              <a:rPr lang="en-GB" sz="1600" dirty="0"/>
              <a:t>Dimensionality Reduction Algorithms (PCA, etc)</a:t>
            </a:r>
          </a:p>
          <a:p>
            <a:r>
              <a:rPr lang="en-GB" sz="1600" dirty="0"/>
              <a:t>Association Rule learning Algorithms (If, then type)</a:t>
            </a:r>
          </a:p>
          <a:p>
            <a:r>
              <a:rPr lang="en-GB" sz="1600" dirty="0"/>
              <a:t>Pattern Matching</a:t>
            </a:r>
          </a:p>
          <a:p>
            <a:endParaRPr lang="en-GB" dirty="0"/>
          </a:p>
          <a:p>
            <a:r>
              <a:rPr lang="en-GB" dirty="0"/>
              <a:t>Artificial Neural Networks (ANNs)</a:t>
            </a:r>
          </a:p>
          <a:p>
            <a:r>
              <a:rPr lang="en-GB" dirty="0"/>
              <a:t>Deep Learning – Larger and complex ANNs which require more computation</a:t>
            </a:r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409F2-2589-702B-FFC4-C701D78FA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928" y="1993106"/>
            <a:ext cx="1019175" cy="115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It fits together 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902BD8D-AD27-6665-4845-1236A74182AC}"/>
              </a:ext>
            </a:extLst>
          </p:cNvPr>
          <p:cNvSpPr/>
          <p:nvPr/>
        </p:nvSpPr>
        <p:spPr>
          <a:xfrm>
            <a:off x="1399100" y="1102784"/>
            <a:ext cx="6345799" cy="6806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Artificial Intelligence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1C00AE-7D84-EC18-9AB1-2B000ADD9B3A}"/>
              </a:ext>
            </a:extLst>
          </p:cNvPr>
          <p:cNvSpPr/>
          <p:nvPr/>
        </p:nvSpPr>
        <p:spPr>
          <a:xfrm>
            <a:off x="838773" y="2014430"/>
            <a:ext cx="2956331" cy="1033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Machine Learning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Computer learns patterns and relationships from data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F82060-FEFE-991C-97C4-FA87894B07A3}"/>
              </a:ext>
            </a:extLst>
          </p:cNvPr>
          <p:cNvSpPr/>
          <p:nvPr/>
        </p:nvSpPr>
        <p:spPr>
          <a:xfrm>
            <a:off x="262402" y="3533847"/>
            <a:ext cx="3532701" cy="1320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Deep Learning:</a:t>
            </a:r>
          </a:p>
          <a:p>
            <a:pPr algn="ctr"/>
            <a:r>
              <a:rPr lang="en-GB" dirty="0"/>
              <a:t>Uses Artificial neural networks (ANNs) with multiple layers to process data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May require a LOT of compute power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FFB6F3-EFFB-3872-7A1D-4F3A3FCB2F80}"/>
              </a:ext>
            </a:extLst>
          </p:cNvPr>
          <p:cNvSpPr/>
          <p:nvPr/>
        </p:nvSpPr>
        <p:spPr>
          <a:xfrm>
            <a:off x="4398949" y="3561403"/>
            <a:ext cx="2185164" cy="1320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Shallow learning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Uses a ANN with one or two layers (faster and quicker)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80DF48-B597-33E3-3B0C-96A17F6DBED2}"/>
              </a:ext>
            </a:extLst>
          </p:cNvPr>
          <p:cNvCxnSpPr>
            <a:cxnSpLocks/>
            <a:stCxn id="2" idx="4"/>
            <a:endCxn id="5" idx="3"/>
          </p:cNvCxnSpPr>
          <p:nvPr/>
        </p:nvCxnSpPr>
        <p:spPr>
          <a:xfrm flipH="1">
            <a:off x="3795104" y="1783427"/>
            <a:ext cx="776896" cy="747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3CCB53-BBAC-CA80-0012-F20D40B794B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028753" y="3047768"/>
            <a:ext cx="288186" cy="486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3C0749-2E4F-1373-96F5-36292F21B78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2316939" y="3047768"/>
            <a:ext cx="3174592" cy="51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0FF44D-AE50-FFC1-3A4A-326007AEF563}"/>
              </a:ext>
            </a:extLst>
          </p:cNvPr>
          <p:cNvSpPr txBox="1"/>
          <p:nvPr/>
        </p:nvSpPr>
        <p:spPr>
          <a:xfrm>
            <a:off x="6590989" y="3744368"/>
            <a:ext cx="224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</a:t>
            </a:r>
            <a:r>
              <a:rPr lang="en-GB" dirty="0" err="1"/>
              <a:t>Ilastik</a:t>
            </a:r>
            <a:r>
              <a:rPr lang="en-GB" dirty="0"/>
              <a:t>, Fiji’s trainable Weka, </a:t>
            </a:r>
          </a:p>
          <a:p>
            <a:r>
              <a:rPr lang="en-GB" dirty="0" err="1"/>
              <a:t>Kmeans</a:t>
            </a:r>
            <a:r>
              <a:rPr lang="en-GB" dirty="0"/>
              <a:t> clustering, DB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F8C2-E526-9AB1-AA65-256E3EC7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Supervised, Unsupervised and semi supervised Learning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AD9FBDB-C0C1-6E97-76E8-4E45A678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4323195" cy="34163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Supervised learning. </a:t>
            </a:r>
          </a:p>
          <a:p>
            <a:pPr lvl="1"/>
            <a:r>
              <a:rPr lang="en-GB" dirty="0"/>
              <a:t>We know the data and the output but not the connection</a:t>
            </a:r>
          </a:p>
          <a:p>
            <a:pPr marL="114300" indent="0">
              <a:buNone/>
            </a:pPr>
            <a:endParaRPr lang="en-GB" dirty="0"/>
          </a:p>
          <a:p>
            <a:r>
              <a:rPr lang="en-GB" dirty="0"/>
              <a:t>Unsupervised learning</a:t>
            </a:r>
          </a:p>
          <a:p>
            <a:pPr lvl="1"/>
            <a:r>
              <a:rPr lang="en-GB" dirty="0"/>
              <a:t>We have the data but not the output or connection (clustering, association)</a:t>
            </a:r>
          </a:p>
          <a:p>
            <a:endParaRPr lang="en-GB" dirty="0"/>
          </a:p>
          <a:p>
            <a:r>
              <a:rPr lang="en-GB" dirty="0"/>
              <a:t>Semi supervised learning</a:t>
            </a:r>
          </a:p>
          <a:p>
            <a:pPr lvl="1"/>
            <a:r>
              <a:rPr lang="en-GB" dirty="0"/>
              <a:t>We have annotated some of the data but not all of it. We need the machine to extrapolate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F9D2E-25C7-64F7-1F94-262F2C78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018" y="1065258"/>
            <a:ext cx="2895600" cy="1212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D866BF-A123-63EA-FBB4-3E0D22D72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018" y="2376970"/>
            <a:ext cx="1510146" cy="10067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EE8AEB-5AF9-99F6-2228-E63C0EF4A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678" y="2377358"/>
            <a:ext cx="1669231" cy="875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E98347-2CF8-8811-FEE6-60CCEF72D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109" y="3482883"/>
            <a:ext cx="1833130" cy="149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4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6688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 supervise or not to supervise that is the question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669298"/>
            <a:ext cx="8520600" cy="2168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/>
              <a:t>Supervised Machine learning </a:t>
            </a:r>
            <a:r>
              <a:rPr lang="en-GB" dirty="0"/>
              <a:t>–Annotated ‘ground truth’ data is provided, either by you or a corporate entity (Nikon and Zeiss’s AI tools) so the machine has something to refer to and you can see how ‘good a job’ the machine has done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Works in Deep and Shallow learning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53C46-0F9A-4FD6-2CA6-992B31CA1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986" y="2571750"/>
            <a:ext cx="5401813" cy="2061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3EAED-3CB5-7F68-B150-0C74286474FB}"/>
              </a:ext>
            </a:extLst>
          </p:cNvPr>
          <p:cNvSpPr txBox="1"/>
          <p:nvPr/>
        </p:nvSpPr>
        <p:spPr>
          <a:xfrm>
            <a:off x="1918855" y="4922363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Jones and Strange, 2023 https://analyticalscience.wiley.com/content/article-do/artificial-intelligence-image-analysis-microscopy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 there is too much data to annotate - Transfer learning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Your image analysis problem is new.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Training data = not much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Recycle –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/>
              <a:t> Priors, e.g. </a:t>
            </a:r>
            <a:r>
              <a:rPr lang="en-GB" dirty="0" err="1"/>
              <a:t>Stardist</a:t>
            </a:r>
            <a:r>
              <a:rPr lang="en-GB" dirty="0"/>
              <a:t> (assumes everything is a convex polygon) / Cell Pose</a:t>
            </a:r>
          </a:p>
          <a:p>
            <a:pPr marL="285750" indent="-285750">
              <a:spcAft>
                <a:spcPts val="1200"/>
              </a:spcAft>
            </a:pPr>
            <a:r>
              <a:rPr lang="en-GB" dirty="0"/>
              <a:t>Take similar data from else where </a:t>
            </a:r>
          </a:p>
          <a:p>
            <a:pPr marL="742950" lvl="1" indent="-285750">
              <a:spcAft>
                <a:spcPts val="1200"/>
              </a:spcAft>
            </a:pPr>
            <a:r>
              <a:rPr lang="en-GB" dirty="0"/>
              <a:t>Bioimage model Zoo -  A centralized community library for sharing and discovering pre-trained deep learning models for microscope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EF1F-03AB-C182-518B-711192330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84474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The Bioimage Model Zoo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B22A9-6F7E-3D40-7B98-788978C0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15" y="1017725"/>
            <a:ext cx="5271170" cy="3368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979CD0-AC28-EB4A-3E19-256E045B1576}"/>
              </a:ext>
            </a:extLst>
          </p:cNvPr>
          <p:cNvSpPr txBox="1"/>
          <p:nvPr/>
        </p:nvSpPr>
        <p:spPr>
          <a:xfrm>
            <a:off x="3345873" y="45445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https://bioimage.io/#/models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E9510B-DE0D-A9B6-EB3C-7DEA893F7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76657"/>
            <a:ext cx="162900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8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Machine Learning methods in BIA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 err="1"/>
              <a:t>CellPose</a:t>
            </a:r>
            <a:r>
              <a:rPr lang="en-GB" dirty="0"/>
              <a:t>: A popular generalist, deep learning-based segmentation tool that uses a gradient-based flow-field representation https://doi.org/10.1038/s41592-025-02595-5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/>
              <a:t>U-Net</a:t>
            </a:r>
            <a:r>
              <a:rPr lang="en-GB" dirty="0"/>
              <a:t>: A neural network designed for fast biomedical image segmentation, works via data augmentation. Can be applied in Fiji/ ImageJ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 err="1"/>
              <a:t>Ilastik</a:t>
            </a:r>
            <a:r>
              <a:rPr lang="en-GB" dirty="0"/>
              <a:t> – supports interactive pixel and object classification, segmentation and machine learning (and can use U-net for this). Uses Random Forest and other classifiers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/>
              <a:t>Care</a:t>
            </a:r>
            <a:r>
              <a:rPr lang="en-GB" dirty="0"/>
              <a:t> – Restores / enhances fluorescent microscopy data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/>
              <a:t>SAM/SAM2 </a:t>
            </a:r>
            <a:r>
              <a:rPr lang="en-GB" dirty="0"/>
              <a:t>– Supported by Meta, Segments anything, if you have time…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https://focalplane.biologists.com/2024/12/10/sam-for-bioimage-analysis-a-comprehensive-guide/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IGC exemplars when AI / Machine learning is impemented</a:t>
            </a:r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Simplistic improvement by background removal (NIS) Super-resolution imaging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C318-BE34-E38E-DF77-3227F7CA8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06" y="1680775"/>
            <a:ext cx="3037774" cy="3017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9C881F-2E72-3D5B-4C45-46C837744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329" y="1680775"/>
            <a:ext cx="3085134" cy="301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232F5E-9C3D-9745-BDA6-CD5631F71549}"/>
              </a:ext>
            </a:extLst>
          </p:cNvPr>
          <p:cNvSpPr txBox="1"/>
          <p:nvPr/>
        </p:nvSpPr>
        <p:spPr>
          <a:xfrm>
            <a:off x="6932412" y="1821873"/>
            <a:ext cx="1899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Removes Shot noise and fixed pattern noise from </a:t>
            </a:r>
            <a:r>
              <a:rPr lang="en-GB" sz="1600" dirty="0" err="1"/>
              <a:t>sCMOS</a:t>
            </a:r>
            <a:r>
              <a:rPr lang="en-GB" sz="1600" dirty="0"/>
              <a:t> camera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E60E-D752-CA24-F70B-240619FA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QuPath</a:t>
            </a:r>
            <a:r>
              <a:rPr lang="en-GB" dirty="0"/>
              <a:t> and Deep learning – </a:t>
            </a:r>
            <a:r>
              <a:rPr lang="en-GB" dirty="0" err="1"/>
              <a:t>Qupath</a:t>
            </a:r>
            <a:r>
              <a:rPr lang="en-GB" dirty="0"/>
              <a:t> to LMD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F8905-B6D8-3A6D-20F0-71AD3E8F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4" y="3338822"/>
            <a:ext cx="1922509" cy="128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A3C10-F4A7-177B-BAC1-B10A1481B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946" y="1141916"/>
            <a:ext cx="4625722" cy="3008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FE3532-B0E3-0245-688E-0E402509F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4" y="1017725"/>
            <a:ext cx="2079305" cy="11667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9A8DE87E-B734-3B60-948C-8FF72F44B48F}"/>
              </a:ext>
            </a:extLst>
          </p:cNvPr>
          <p:cNvSpPr/>
          <p:nvPr/>
        </p:nvSpPr>
        <p:spPr>
          <a:xfrm>
            <a:off x="7308272" y="2008908"/>
            <a:ext cx="651163" cy="2632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68DE7-D7BD-C64E-AAF4-0027A72C0E44}"/>
              </a:ext>
            </a:extLst>
          </p:cNvPr>
          <p:cNvSpPr txBox="1"/>
          <p:nvPr/>
        </p:nvSpPr>
        <p:spPr>
          <a:xfrm>
            <a:off x="7308272" y="2384715"/>
            <a:ext cx="17411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Exports coordinate</a:t>
            </a:r>
          </a:p>
          <a:p>
            <a:r>
              <a:rPr lang="en-GB" dirty="0"/>
              <a:t>Of tissue areas</a:t>
            </a:r>
          </a:p>
          <a:p>
            <a:endParaRPr lang="en-GB" dirty="0"/>
          </a:p>
          <a:p>
            <a:r>
              <a:rPr lang="en-GB" dirty="0"/>
              <a:t>+ 3 fiducial markers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D21A624-5222-99BE-A492-67DD18B5172A}"/>
              </a:ext>
            </a:extLst>
          </p:cNvPr>
          <p:cNvSpPr/>
          <p:nvPr/>
        </p:nvSpPr>
        <p:spPr>
          <a:xfrm>
            <a:off x="2259139" y="1554341"/>
            <a:ext cx="317807" cy="2632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4CAC708-B6A7-9DF7-44B2-6BB41BF2A70A}"/>
              </a:ext>
            </a:extLst>
          </p:cNvPr>
          <p:cNvSpPr/>
          <p:nvPr/>
        </p:nvSpPr>
        <p:spPr>
          <a:xfrm rot="10800000">
            <a:off x="2418041" y="4385182"/>
            <a:ext cx="5347431" cy="2632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80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7CA3F-FDC1-CDC8-3C4A-6BA77F17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6" y="1513623"/>
            <a:ext cx="5464885" cy="297103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BF6631D-A7D1-678C-B4CF-F6FD0606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High through-put semi supervised learning.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45D452-1AA2-3459-658D-7140F480F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755" y="1556957"/>
            <a:ext cx="3288577" cy="280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50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9D6C-629B-C9A9-C932-75AC9D88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8204"/>
            <a:ext cx="8520600" cy="824377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CellPose</a:t>
            </a:r>
            <a:r>
              <a:rPr lang="en-GB" dirty="0"/>
              <a:t> segmentation finds cells expressing GFP and tracks their expression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B44D2-CD66-57F2-197E-FBB7FB28D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7" y="1232688"/>
            <a:ext cx="4091451" cy="2355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F94160-1BDC-92BF-BBE7-653C26A5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544" y="1155344"/>
            <a:ext cx="2540877" cy="12582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E28E3B-7C78-88B6-69A2-2EF085320B19}"/>
              </a:ext>
            </a:extLst>
          </p:cNvPr>
          <p:cNvSpPr txBox="1"/>
          <p:nvPr/>
        </p:nvSpPr>
        <p:spPr>
          <a:xfrm>
            <a:off x="5297219" y="860023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5433F-4CED-9AA5-4138-D542B266FFDC}"/>
              </a:ext>
            </a:extLst>
          </p:cNvPr>
          <p:cNvSpPr txBox="1"/>
          <p:nvPr/>
        </p:nvSpPr>
        <p:spPr>
          <a:xfrm>
            <a:off x="6410521" y="907460"/>
            <a:ext cx="1561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 3hr +</a:t>
            </a:r>
            <a:r>
              <a:rPr lang="en-GB" dirty="0" err="1"/>
              <a:t>Protac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9E9CA-A824-D99B-11A1-FF41BA920A27}"/>
              </a:ext>
            </a:extLst>
          </p:cNvPr>
          <p:cNvSpPr txBox="1"/>
          <p:nvPr/>
        </p:nvSpPr>
        <p:spPr>
          <a:xfrm>
            <a:off x="7797222" y="2965409"/>
            <a:ext cx="13467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CellPose</a:t>
            </a:r>
            <a:r>
              <a:rPr lang="en-GB" dirty="0"/>
              <a:t> segmented the Brightfield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B7F902-C446-E99E-614E-9D5108E80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21" y="2445827"/>
            <a:ext cx="2685321" cy="12582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B13696-5FA8-34FF-32EC-FD4BCE59A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843" y="3736309"/>
            <a:ext cx="2381355" cy="12037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2CF7AA-4DD2-A6A5-B813-A19D1DCD01BA}"/>
              </a:ext>
            </a:extLst>
          </p:cNvPr>
          <p:cNvSpPr txBox="1"/>
          <p:nvPr/>
        </p:nvSpPr>
        <p:spPr>
          <a:xfrm>
            <a:off x="311700" y="4551218"/>
            <a:ext cx="3248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James </a:t>
            </a:r>
            <a:r>
              <a:rPr lang="en-GB" dirty="0" err="1"/>
              <a:t>Iremonger</a:t>
            </a:r>
            <a:r>
              <a:rPr lang="en-GB" dirty="0"/>
              <a:t> and Chris </a:t>
            </a:r>
            <a:r>
              <a:rPr lang="en-GB" dirty="0" err="1"/>
              <a:t>Callahagn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6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423E-85C0-E69C-4910-64C4AE0D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CellPose</a:t>
            </a:r>
            <a:r>
              <a:rPr lang="en-GB" dirty="0"/>
              <a:t> Classifiers: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2DFF63-8B14-7F58-EEB3-531E8B568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478" y="639422"/>
            <a:ext cx="5447366" cy="418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625FF0-D987-C8A4-7F55-5609B4E8F79C}"/>
              </a:ext>
            </a:extLst>
          </p:cNvPr>
          <p:cNvSpPr txBox="1"/>
          <p:nvPr/>
        </p:nvSpPr>
        <p:spPr>
          <a:xfrm>
            <a:off x="311700" y="1172584"/>
            <a:ext cx="23884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Training ML Classifiers</a:t>
            </a:r>
          </a:p>
          <a:p>
            <a:r>
              <a:rPr lang="en-GB" dirty="0"/>
              <a:t>For finding Crypts in liver Tissue</a:t>
            </a:r>
          </a:p>
          <a:p>
            <a:endParaRPr lang="en-GB" dirty="0"/>
          </a:p>
          <a:p>
            <a:r>
              <a:rPr lang="en-GB" dirty="0"/>
              <a:t>Scanned in from Brightfield images from the slide scanner </a:t>
            </a:r>
          </a:p>
          <a:p>
            <a:endParaRPr lang="en-GB" dirty="0"/>
          </a:p>
          <a:p>
            <a:r>
              <a:rPr lang="en-GB" dirty="0"/>
              <a:t>Segment anything (SAM) then used to identify crypts</a:t>
            </a:r>
          </a:p>
        </p:txBody>
      </p:sp>
    </p:spTree>
    <p:extLst>
      <p:ext uri="{BB962C8B-B14F-4D97-AF65-F5344CB8AC3E}">
        <p14:creationId xmlns:p14="http://schemas.microsoft.com/office/powerpoint/2010/main" val="3866653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4D69-B76B-9E37-BB2C-5718B634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3D analysis of melanocyte-stem-cells in Zebrafish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19214-A597-B7D0-5AC7-44AA2C4EC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42" y="1606543"/>
            <a:ext cx="2904836" cy="21829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AEB51-E55E-FCB3-EB24-9D100C8F617C}"/>
              </a:ext>
            </a:extLst>
          </p:cNvPr>
          <p:cNvSpPr txBox="1"/>
          <p:nvPr/>
        </p:nvSpPr>
        <p:spPr>
          <a:xfrm>
            <a:off x="4663440" y="1074684"/>
            <a:ext cx="4297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 U-Net measures the melanocyte-stem-cell "wishbone" structures — their area, fluorescence intensity, and cell number — and compares the treatment groups. Over 90 fish measured</a:t>
            </a:r>
          </a:p>
        </p:txBody>
      </p:sp>
      <p:pic>
        <p:nvPicPr>
          <p:cNvPr id="9" name="Content Placeholder 28">
            <a:extLst>
              <a:ext uri="{FF2B5EF4-FFF2-40B4-BE49-F238E27FC236}">
                <a16:creationId xmlns:a16="http://schemas.microsoft.com/office/drawing/2014/main" id="{4498C17C-146B-544B-793C-7346CBDB0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2286975"/>
            <a:ext cx="3700318" cy="2543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849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14DF-210B-2584-1DD3-7EA27E6C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DL4Mic Everywhere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3D1B8-5FDC-B652-D6BC-C57C197E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39" y="1155261"/>
            <a:ext cx="5542288" cy="362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14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b="1" dirty="0"/>
              <a:t>DL4MicEverywhere:</a:t>
            </a:r>
            <a:endParaRPr lang="en-GB"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55214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285750" indent="-285750">
              <a:spcAft>
                <a:spcPts val="1200"/>
              </a:spcAft>
            </a:pPr>
            <a:r>
              <a:rPr lang="en-GB" sz="2300" dirty="0"/>
              <a:t>Uses Docker desktop (which it installs itself)</a:t>
            </a:r>
          </a:p>
          <a:p>
            <a:pPr marL="285750" indent="-285750">
              <a:spcAft>
                <a:spcPts val="1200"/>
              </a:spcAft>
            </a:pPr>
            <a:r>
              <a:rPr lang="en-GB" sz="2300" dirty="0"/>
              <a:t>Makes no assumptions about coding expertise.</a:t>
            </a:r>
          </a:p>
          <a:p>
            <a:pPr marL="285750" indent="-285750">
              <a:spcAft>
                <a:spcPts val="1200"/>
              </a:spcAft>
            </a:pPr>
            <a:r>
              <a:rPr lang="en-GB" sz="2300" dirty="0"/>
              <a:t>Gui interface which enables training and evaluation of models:</a:t>
            </a:r>
          </a:p>
          <a:p>
            <a:pPr marL="285750" indent="-285750">
              <a:spcAft>
                <a:spcPts val="1200"/>
              </a:spcAft>
            </a:pPr>
            <a:r>
              <a:rPr lang="en-GB" sz="2300" dirty="0"/>
              <a:t>Including: segmentation, object detection, denoising, super-resolution microscopy and image-to-image translation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sz="24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dirty="0">
                <a:hlinkClick r:id="rId3"/>
              </a:rPr>
              <a:t>https://doi.org/10.1038/s41592-024-02295-6</a:t>
            </a:r>
            <a:endParaRPr lang="en-GB" sz="24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400" dirty="0"/>
              <a:t>https://github.com/HenriquesLab/DL4MicEverywhere</a:t>
            </a:r>
          </a:p>
          <a:p>
            <a:pPr marL="285750" indent="-285750">
              <a:spcAft>
                <a:spcPts val="1200"/>
              </a:spcAft>
            </a:pPr>
            <a:endParaRPr lang="en-GB" sz="23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E812-9EED-8302-DB46-4ECFC800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34A45-16D9-5BFC-2425-AD3A2A99C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Online Media 3" title="DL4MicEverywhere 2.0 user-guide">
            <a:hlinkClick r:id="" action="ppaction://media"/>
            <a:extLst>
              <a:ext uri="{FF2B5EF4-FFF2-40B4-BE49-F238E27FC236}">
                <a16:creationId xmlns:a16="http://schemas.microsoft.com/office/drawing/2014/main" id="{7233EE3A-9327-1625-124E-CC03436A8F6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050" y="0"/>
            <a:ext cx="91043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1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B82B-8A0D-E036-3C07-379C792D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Piximi</a:t>
            </a:r>
            <a:r>
              <a:rPr lang="en-GB" dirty="0"/>
              <a:t> - https://piximi.app/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F95D6-9A0F-83D2-2DBB-4F6075DB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22" y="1148633"/>
            <a:ext cx="5633986" cy="215048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73744D3-5886-399E-4CFE-3A768B27B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65" y="48839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10.1101/2024.06.03.597232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C4860-6553-C13A-51B5-45D3B880C478}"/>
              </a:ext>
            </a:extLst>
          </p:cNvPr>
          <p:cNvSpPr txBox="1"/>
          <p:nvPr/>
        </p:nvSpPr>
        <p:spPr>
          <a:xfrm>
            <a:off x="796066" y="3420932"/>
            <a:ext cx="69494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no-programming image analysis tool </a:t>
            </a:r>
          </a:p>
          <a:p>
            <a:r>
              <a:rPr lang="en-GB" dirty="0"/>
              <a:t>Uses deep learning</a:t>
            </a:r>
          </a:p>
          <a:p>
            <a:r>
              <a:rPr lang="en-GB" dirty="0"/>
              <a:t>Interoperable</a:t>
            </a:r>
          </a:p>
        </p:txBody>
      </p:sp>
    </p:spTree>
    <p:extLst>
      <p:ext uri="{BB962C8B-B14F-4D97-AF65-F5344CB8AC3E}">
        <p14:creationId xmlns:p14="http://schemas.microsoft.com/office/powerpoint/2010/main" val="3818386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020E-7709-7181-5507-A3FD3C1D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Piximi</a:t>
            </a:r>
            <a:r>
              <a:rPr lang="en-GB" dirty="0"/>
              <a:t> functionality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31362-1DD8-8F58-1851-6ED78703C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Classifier: allowing researchers to easily label images or objects within images, such as cells, and train a classifier to recognize them.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Annotator: providing multiple flexible tools for creating object bounding boxes and segmentation outlines to allow researchers to annotate images directly in </a:t>
            </a:r>
            <a:r>
              <a:rPr lang="en-GB" dirty="0" err="1">
                <a:effectLst/>
              </a:rPr>
              <a:t>Piximi</a:t>
            </a:r>
            <a:r>
              <a:rPr lang="en-GB" dirty="0">
                <a:effectLst/>
              </a:rPr>
              <a:t> for use in downstream tasks.</a:t>
            </a:r>
          </a:p>
          <a:p>
            <a:pPr>
              <a:buFont typeface="+mj-lt"/>
              <a:buAutoNum type="arabicPeriod"/>
            </a:pPr>
            <a:r>
              <a:rPr lang="en-GB" dirty="0" err="1">
                <a:effectLst/>
              </a:rPr>
              <a:t>Segmenter</a:t>
            </a:r>
            <a:r>
              <a:rPr lang="en-GB" dirty="0">
                <a:effectLst/>
              </a:rPr>
              <a:t>: allowing researchers to find object within images using pre-trained instance segmentation and object detection networks</a:t>
            </a:r>
          </a:p>
          <a:p>
            <a:pPr>
              <a:buFont typeface="+mj-lt"/>
              <a:buAutoNum type="arabicPeriod"/>
            </a:pPr>
            <a:r>
              <a:rPr lang="en-GB" dirty="0">
                <a:effectLst/>
              </a:rPr>
              <a:t>Measurements: capturing various properties of images or entities identified therein, such as size, shape, and intensity. Measurements can then be plotted to examine distributions or between-group differences.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523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4B0E-BA6D-934D-FE76-DAA26CCB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Using </a:t>
            </a:r>
            <a:r>
              <a:rPr lang="en-GB" dirty="0" err="1"/>
              <a:t>Piximi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24218-696B-861B-6B28-B4957983B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3" y="1141717"/>
            <a:ext cx="7530353" cy="39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7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BAND and how can it help</a:t>
            </a:r>
            <a:endParaRPr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40800"/>
            <a:ext cx="4816350" cy="27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550" y="1017725"/>
            <a:ext cx="2819550" cy="1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0925" y="2902000"/>
            <a:ext cx="2819551" cy="1689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355750" y="1052400"/>
            <a:ext cx="4587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https://bandv1.denbi.uni-tuebingen.de/#/eosc-landingpage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14C5-0253-5583-D483-B4043225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72137-4398-B309-9746-A0578CE31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dirty="0"/>
              <a:t>Machine learning is a branch of AI</a:t>
            </a:r>
          </a:p>
          <a:p>
            <a:r>
              <a:rPr lang="en-GB" sz="2400" dirty="0"/>
              <a:t>It uses </a:t>
            </a:r>
            <a:r>
              <a:rPr lang="en-GB" sz="2400" dirty="0" err="1"/>
              <a:t>classifers</a:t>
            </a:r>
            <a:r>
              <a:rPr lang="en-GB" sz="2400" dirty="0"/>
              <a:t> to learn from data</a:t>
            </a:r>
          </a:p>
          <a:p>
            <a:r>
              <a:rPr lang="en-GB" sz="2400" dirty="0"/>
              <a:t>Deep learning uses layers of classifiers in an Artificial Neural network</a:t>
            </a:r>
          </a:p>
          <a:p>
            <a:r>
              <a:rPr lang="en-GB" sz="2400" dirty="0"/>
              <a:t>Can use a lot of processing power </a:t>
            </a:r>
          </a:p>
          <a:p>
            <a:r>
              <a:rPr lang="en-GB" sz="2400" dirty="0"/>
              <a:t>Tools such as </a:t>
            </a:r>
            <a:r>
              <a:rPr lang="en-GB" sz="2400" dirty="0" err="1"/>
              <a:t>CellPose</a:t>
            </a:r>
            <a:r>
              <a:rPr lang="en-GB" sz="2400" dirty="0"/>
              <a:t>, </a:t>
            </a:r>
            <a:r>
              <a:rPr lang="en-GB" sz="2400" dirty="0" err="1"/>
              <a:t>QuPath</a:t>
            </a:r>
            <a:r>
              <a:rPr lang="en-GB" sz="2400" dirty="0"/>
              <a:t>, </a:t>
            </a:r>
            <a:r>
              <a:rPr lang="en-GB" sz="2400" dirty="0" err="1"/>
              <a:t>Ilastik</a:t>
            </a:r>
            <a:r>
              <a:rPr lang="en-GB" sz="2400" dirty="0"/>
              <a:t> include Machine learning algorithms</a:t>
            </a:r>
          </a:p>
          <a:p>
            <a:r>
              <a:rPr lang="en-GB" sz="2400" dirty="0"/>
              <a:t>Tools such as DL4MicEverywhere and </a:t>
            </a:r>
            <a:r>
              <a:rPr lang="en-GB" sz="2400" dirty="0" err="1"/>
              <a:t>Piximi</a:t>
            </a:r>
            <a:r>
              <a:rPr lang="en-GB" sz="2400" dirty="0"/>
              <a:t> enable equality of access to Deep learning for machine learning.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6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F547-9329-F275-891F-E011D162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Over to you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Object 3">
                <a:extLst>
                  <a:ext uri="{FF2B5EF4-FFF2-40B4-BE49-F238E27FC236}">
                    <a16:creationId xmlns:a16="http://schemas.microsoft.com/office/drawing/2014/main" id="{C34291CE-37C1-ACF6-4286-432715B35B6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42368698"/>
                  </p:ext>
                </p:extLst>
              </p:nvPr>
            </p:nvGraphicFramePr>
            <p:xfrm>
              <a:off x="1229810" y="1349174"/>
              <a:ext cx="6510759" cy="36170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Object 3">
                <a:extLst>
                  <a:ext uri="{FF2B5EF4-FFF2-40B4-BE49-F238E27FC236}">
                    <a16:creationId xmlns:a16="http://schemas.microsoft.com/office/drawing/2014/main" id="{C34291CE-37C1-ACF6-4286-432715B35B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810" y="1349174"/>
                <a:ext cx="6510759" cy="3617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Object 2">
                <a:extLst>
                  <a:ext uri="{FF2B5EF4-FFF2-40B4-BE49-F238E27FC236}">
                    <a16:creationId xmlns:a16="http://schemas.microsoft.com/office/drawing/2014/main" id="{8F0F7496-8DB2-F7F4-FD77-91AC6886AB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42368698"/>
                  </p:ext>
                </p:extLst>
              </p:nvPr>
            </p:nvGraphicFramePr>
            <p:xfrm>
              <a:off x="1374493" y="1493857"/>
              <a:ext cx="6510759" cy="36170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3" name="Object 2">
                <a:extLst>
                  <a:ext uri="{FF2B5EF4-FFF2-40B4-BE49-F238E27FC236}">
                    <a16:creationId xmlns:a16="http://schemas.microsoft.com/office/drawing/2014/main" id="{8F0F7496-8DB2-F7F4-FD77-91AC6886AB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4493" y="1493857"/>
                <a:ext cx="6510759" cy="36170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7087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1FC0-BEE6-0B21-3711-101B060D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Session Two – Over to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21336-A511-39E9-B47F-2E6BD8FE4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6" y="1069392"/>
            <a:ext cx="63817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73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 - what are you trying to do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cloud of what people want to do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your project sit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Segmentation of cells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Feature identification in tissues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3D analysis of organoids / model organism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High content analysis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Analysis of Electron microscopy data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Restoring weak images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current challenges / Roadblocks</a:t>
            </a: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Don’t know how to use Python for programming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No idea where to start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I took some code from a paper / Github but it doesn’t work for my data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Don’t have time to annotate images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When I try to analyse my images the Computer runs out of memory / trys to take a very long time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have you tried so far to fix this</a:t>
            </a: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Vibe coding?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Borrowing other peoples data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How to use Github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Asked a friend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1007950" y="452450"/>
            <a:ext cx="7031400" cy="10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do you think you  need to know to leverage machine learning</a:t>
            </a:r>
            <a:endParaRPr dirty="0"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1586025"/>
            <a:ext cx="8520600" cy="29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webextensions/webextension1.xml><?xml version="1.0" encoding="utf-8"?>
<we:webextension xmlns:we="http://schemas.microsoft.com/office/webextensions/webextension/2010/11" id="{4C5C0C1F-BE42-4E73-8E48-D921E6EB0CE8}">
  <we:reference id="71a1a0ed-6cd0-4a6e-ad2d-015b8a8b43cb" version="1.0.0.11" store="excatalog" storeType="excatalog"/>
  <we:alternateReferences>
    <we:reference id="WA104381682" version="1.0.0.11" store="en-gb" storeType="omex"/>
  </we:alternateReferences>
  <we:properties>
    <we:property name="selectedSlug" value="&quot;NCNSEMB&quot;"/>
    <we:property name="selectedQuestionId" value="&quot;6ac36fc28a1243189cb559c2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58BB8E3B-7E0D-4808-B2EF-21DAD23FBFAF}">
  <we:reference id="71a1a0ed-6cd0-4a6e-ad2d-015b8a8b43cb" version="1.0.0.11" store="excatalog" storeType="excatalog"/>
  <we:alternateReferences>
    <we:reference id="WA104381682" version="1.0.0.11" store="en-gb" storeType="omex"/>
  </we:alternateReferences>
  <we:properties>
    <we:property name="selectedSlug" value=""/>
    <we:property name="selectedQuestionId" value="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8985</TotalTime>
  <Words>1212</Words>
  <Application>Microsoft Office PowerPoint</Application>
  <PresentationFormat>On-screen Show (16:9)</PresentationFormat>
  <Paragraphs>152</Paragraphs>
  <Slides>33</Slides>
  <Notes>14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Simple Light</vt:lpstr>
      <vt:lpstr>What can Machine Learning do for me</vt:lpstr>
      <vt:lpstr>Do we already use Machine Learning ‘stuff’ 1?</vt:lpstr>
      <vt:lpstr>Why bother with machine learning</vt:lpstr>
      <vt:lpstr>How Image analysis can be done</vt:lpstr>
      <vt:lpstr>What goes into Machine learning?  Is it simply a black box?  </vt:lpstr>
      <vt:lpstr>We are familiar with some of the methods used</vt:lpstr>
      <vt:lpstr>How It fits together </vt:lpstr>
      <vt:lpstr>Supervised, Unsupervised and semi supervised Learning</vt:lpstr>
      <vt:lpstr>To supervise or not to supervise that is the question</vt:lpstr>
      <vt:lpstr>But there is too much data to annotate - Transfer learning</vt:lpstr>
      <vt:lpstr>The Bioimage Model Zoo</vt:lpstr>
      <vt:lpstr>Machine Learning methods in BIA</vt:lpstr>
      <vt:lpstr>IGC exemplars when AI / Machine learning is impemented</vt:lpstr>
      <vt:lpstr>QuPath and Deep learning – Qupath to LMD</vt:lpstr>
      <vt:lpstr>High through-put semi supervised learning.</vt:lpstr>
      <vt:lpstr>CellPose segmentation finds cells expressing GFP and tracks their expression over time</vt:lpstr>
      <vt:lpstr>CellPose Classifiers:  </vt:lpstr>
      <vt:lpstr>3D analysis of melanocyte-stem-cells in Zebrafish</vt:lpstr>
      <vt:lpstr>DL4Mic Everywhere</vt:lpstr>
      <vt:lpstr>DL4MicEverywhere:</vt:lpstr>
      <vt:lpstr>PowerPoint Presentation</vt:lpstr>
      <vt:lpstr>Piximi - https://piximi.app/</vt:lpstr>
      <vt:lpstr>Piximi functionality </vt:lpstr>
      <vt:lpstr>Using Piximi</vt:lpstr>
      <vt:lpstr>What is BAND and how can it help</vt:lpstr>
      <vt:lpstr>Summary</vt:lpstr>
      <vt:lpstr>Over to you</vt:lpstr>
      <vt:lpstr>Session Two – Over to you</vt:lpstr>
      <vt:lpstr>Menti - what are you trying to do</vt:lpstr>
      <vt:lpstr>Where does your project sit</vt:lpstr>
      <vt:lpstr>What are the current challenges / Roadblocks</vt:lpstr>
      <vt:lpstr>What have you tried so far to fix this</vt:lpstr>
      <vt:lpstr>What do you think you  need to know to leverage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 Wheeler</dc:creator>
  <cp:lastModifiedBy>Ann Wheeler</cp:lastModifiedBy>
  <cp:revision>22</cp:revision>
  <dcterms:modified xsi:type="dcterms:W3CDTF">2026-10-07T13:26:26Z</dcterms:modified>
</cp:coreProperties>
</file>