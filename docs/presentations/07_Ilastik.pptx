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4"/>
  </p:notesMasterIdLst>
  <p:sldIdLst>
    <p:sldId id="256" r:id="rId5"/>
    <p:sldId id="504" r:id="rId6"/>
    <p:sldId id="460" r:id="rId7"/>
    <p:sldId id="323" r:id="rId8"/>
    <p:sldId id="320" r:id="rId9"/>
    <p:sldId id="505" r:id="rId10"/>
    <p:sldId id="506" r:id="rId11"/>
    <p:sldId id="507" r:id="rId12"/>
    <p:sldId id="508" r:id="rId13"/>
    <p:sldId id="509" r:id="rId14"/>
    <p:sldId id="510" r:id="rId15"/>
    <p:sldId id="511" r:id="rId16"/>
    <p:sldId id="409" r:id="rId17"/>
    <p:sldId id="512" r:id="rId18"/>
    <p:sldId id="513" r:id="rId19"/>
    <p:sldId id="514" r:id="rId20"/>
    <p:sldId id="516" r:id="rId21"/>
    <p:sldId id="515" r:id="rId22"/>
    <p:sldId id="2147479519" r:id="rId23"/>
    <p:sldId id="2147479520" r:id="rId24"/>
    <p:sldId id="2147479521" r:id="rId25"/>
    <p:sldId id="2147479522" r:id="rId26"/>
    <p:sldId id="2147479523" r:id="rId27"/>
    <p:sldId id="2147479524" r:id="rId28"/>
    <p:sldId id="2147479525" r:id="rId29"/>
    <p:sldId id="2147479526" r:id="rId30"/>
    <p:sldId id="2147479527" r:id="rId31"/>
    <p:sldId id="2147479512" r:id="rId32"/>
    <p:sldId id="318" r:id="rId33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Frank Vernaillen" initials="FV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81E"/>
    <a:srgbClr val="BFBFBF"/>
    <a:srgbClr val="EA6341"/>
    <a:srgbClr val="00AADB"/>
    <a:srgbClr val="F9FEB4"/>
    <a:srgbClr val="36C3A0"/>
    <a:srgbClr val="EEE800"/>
    <a:srgbClr val="959200"/>
    <a:srgbClr val="FFFF00"/>
    <a:srgbClr val="F2F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25" autoAdjust="0"/>
    <p:restoredTop sz="94320" autoAdjust="0"/>
  </p:normalViewPr>
  <p:slideViewPr>
    <p:cSldViewPr snapToGrid="0">
      <p:cViewPr>
        <p:scale>
          <a:sx n="66" d="100"/>
          <a:sy n="66" d="100"/>
        </p:scale>
        <p:origin x="1618" y="31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commentAuthors" Target="comment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CF0F7E-E7A1-4280-82BF-B0E98FA161C6}" type="datetimeFigureOut">
              <a:rPr lang="nl-BE" smtClean="0"/>
              <a:t>22/09/2026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A8C706-2F2E-4B70-8F20-1F30B9198BB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61147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A8C706-2F2E-4B70-8F20-1F30B9198BB5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4591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A8C706-2F2E-4B70-8F20-1F30B9198BB5}" type="slidenum">
              <a:rPr lang="nl-BE" smtClean="0"/>
              <a:t>13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12935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DAF22-36D9-8CA4-E9EA-14329A474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2850A6-B390-36C8-2B8E-DBD4014D34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3B2CE1-7B5E-DF6C-53AA-EB3DA2A12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5716F-6097-5EBE-B245-6BCE7A734D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A8C706-2F2E-4B70-8F20-1F30B9198BB5}" type="slidenum">
              <a:rPr lang="nl-BE" smtClean="0"/>
              <a:t>14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711834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FBDA1-588B-FB56-3E5E-6EADF65EC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F680A1-F84E-C1C4-2ECA-A0667E1223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3F1495-2572-2885-0365-2C5AEB636A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8287ED-BDDB-6E88-45DF-9DBADD22C3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A8C706-2F2E-4B70-8F20-1F30B9198BB5}" type="slidenum">
              <a:rPr lang="nl-BE" smtClean="0"/>
              <a:t>15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184460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21C69-E79D-6E05-61E2-4FED11C97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353DA7-D766-50C9-65AC-6461D6BE60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980026-CDD0-402A-63E4-F018356BF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13BE8-FCA3-8AD8-B1C7-E092026750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A8C706-2F2E-4B70-8F20-1F30B9198BB5}" type="slidenum">
              <a:rPr lang="nl-BE" smtClean="0"/>
              <a:t>16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229241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D20B8-9B09-3408-26A6-FC97FC975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26D2DA-3548-04BF-4F40-9C22E40DB0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03A84A-5CB3-5DB2-CD1B-FC6B1BA37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A9981-4037-84E0-056D-AC5AFFC5F1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A8C706-2F2E-4B70-8F20-1F30B9198BB5}" type="slidenum">
              <a:rPr lang="nl-BE" smtClean="0"/>
              <a:t>17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892676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55A62-6D9E-99BB-C69C-5C8411F56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ED9D53-53BB-CB40-8D1D-E0DF4F8398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DA0970-48AA-552D-AD8E-1B38ED4E0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3A13D-2BA7-E07C-190E-4B5FDC8EA2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A8C706-2F2E-4B70-8F20-1F30B9198BB5}" type="slidenum">
              <a:rPr lang="nl-BE" smtClean="0"/>
              <a:t>18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746568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A8C706-2F2E-4B70-8F20-1F30B9198BB5}" type="slidenum">
              <a:rPr lang="nl-BE" smtClean="0"/>
              <a:t>29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39478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54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7702" y="1276473"/>
            <a:ext cx="9418642" cy="2387600"/>
          </a:xfrm>
        </p:spPr>
        <p:txBody>
          <a:bodyPr anchor="b">
            <a:normAutofit/>
          </a:bodyPr>
          <a:lstStyle>
            <a:lvl1pPr algn="l">
              <a:defRPr sz="5400" b="1">
                <a:solidFill>
                  <a:schemeClr val="bg1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4301" y="3756148"/>
            <a:ext cx="9432043" cy="822817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Corbel" panose="020B05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BE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8047664" y="6343466"/>
            <a:ext cx="3617360" cy="221987"/>
          </a:xfrm>
        </p:spPr>
        <p:txBody>
          <a:bodyPr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</a:t>
            </a:r>
            <a:endParaRPr lang="nl-BE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140322" y="6343466"/>
            <a:ext cx="1474152" cy="216694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048378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7702" y="1276473"/>
            <a:ext cx="9026338" cy="2387600"/>
          </a:xfrm>
        </p:spPr>
        <p:txBody>
          <a:bodyPr anchor="b">
            <a:normAutofit/>
          </a:bodyPr>
          <a:lstStyle>
            <a:lvl1pPr algn="l">
              <a:defRPr sz="5400" b="1"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4301" y="3756148"/>
            <a:ext cx="9039181" cy="82281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BE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887644" y="6343466"/>
            <a:ext cx="3617360" cy="221987"/>
          </a:xfrm>
        </p:spPr>
        <p:txBody>
          <a:bodyPr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</a:t>
            </a:r>
            <a:endParaRPr lang="nl-BE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0030852" y="6050735"/>
            <a:ext cx="1474152" cy="216694"/>
          </a:xfrm>
        </p:spPr>
        <p:txBody>
          <a:bodyPr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17943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Title 1"/>
          <p:cNvSpPr>
            <a:spLocks noGrp="1"/>
          </p:cNvSpPr>
          <p:nvPr>
            <p:ph type="ctrTitle"/>
          </p:nvPr>
        </p:nvSpPr>
        <p:spPr>
          <a:xfrm>
            <a:off x="437702" y="1276473"/>
            <a:ext cx="9418642" cy="2387600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chemeClr val="bg1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290069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 dirty="0"/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838200" y="1841787"/>
            <a:ext cx="10515600" cy="4274256"/>
          </a:xfrm>
        </p:spPr>
        <p:txBody>
          <a:bodyPr>
            <a:noAutofit/>
          </a:bodyPr>
          <a:lstStyle>
            <a:lvl1pPr marL="228600" indent="-228600">
              <a:buClr>
                <a:srgbClr val="FF681E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2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131969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2876"/>
          </a:xfrm>
        </p:spPr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1787"/>
            <a:ext cx="10515600" cy="4274256"/>
          </a:xfrm>
        </p:spPr>
        <p:txBody>
          <a:bodyPr>
            <a:noAutofit/>
          </a:bodyPr>
          <a:lstStyle>
            <a:lvl1pPr marL="228600" indent="-228600">
              <a:buClr>
                <a:srgbClr val="FF681E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2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760248" y="333989"/>
            <a:ext cx="975163" cy="780130"/>
          </a:xfrm>
          <a:prstGeom prst="rect">
            <a:avLst/>
          </a:prstGeom>
          <a:solidFill>
            <a:srgbClr val="FF681E"/>
          </a:solidFill>
        </p:spPr>
      </p:pic>
      <p:sp>
        <p:nvSpPr>
          <p:cNvPr id="8" name="TextBox 7"/>
          <p:cNvSpPr txBox="1"/>
          <p:nvPr userDrawn="1"/>
        </p:nvSpPr>
        <p:spPr>
          <a:xfrm>
            <a:off x="-2359859" y="1138001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R:255 G:104 30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760250" y="1571312"/>
            <a:ext cx="975165" cy="780132"/>
          </a:xfrm>
          <a:prstGeom prst="rect">
            <a:avLst/>
          </a:prstGeom>
          <a:solidFill>
            <a:srgbClr val="5A2A82"/>
          </a:solidFill>
        </p:spPr>
      </p:pic>
      <p:sp>
        <p:nvSpPr>
          <p:cNvPr id="10" name="TextBox 9"/>
          <p:cNvSpPr txBox="1"/>
          <p:nvPr userDrawn="1"/>
        </p:nvSpPr>
        <p:spPr>
          <a:xfrm>
            <a:off x="-2359859" y="2362165"/>
            <a:ext cx="189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R:90 G:42 B:130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-1760248" y="5541279"/>
            <a:ext cx="988564" cy="790853"/>
          </a:xfrm>
          <a:prstGeom prst="rect">
            <a:avLst/>
          </a:prstGeom>
          <a:solidFill>
            <a:srgbClr val="7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4" name="TextBox 13"/>
          <p:cNvSpPr txBox="1"/>
          <p:nvPr userDrawn="1"/>
        </p:nvSpPr>
        <p:spPr>
          <a:xfrm>
            <a:off x="-2419436" y="6352143"/>
            <a:ext cx="2131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R:124 G:124 </a:t>
            </a:r>
            <a:r>
              <a:rPr lang="nl-BE" baseline="0" dirty="0"/>
              <a:t> </a:t>
            </a:r>
            <a:r>
              <a:rPr lang="nl-BE" dirty="0"/>
              <a:t>B:124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-1773649" y="4203052"/>
            <a:ext cx="988564" cy="790853"/>
          </a:xfrm>
          <a:prstGeom prst="rect">
            <a:avLst/>
          </a:prstGeom>
          <a:solidFill>
            <a:srgbClr val="1B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6" name="TextBox 15"/>
          <p:cNvSpPr txBox="1"/>
          <p:nvPr userDrawn="1"/>
        </p:nvSpPr>
        <p:spPr>
          <a:xfrm>
            <a:off x="-2293435" y="5011581"/>
            <a:ext cx="1819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R:27 G:41 </a:t>
            </a:r>
            <a:r>
              <a:rPr lang="nl-BE" baseline="0" dirty="0"/>
              <a:t> </a:t>
            </a:r>
            <a:r>
              <a:rPr lang="nl-BE" dirty="0"/>
              <a:t>B:68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91349"/>
            <a:ext cx="10515600" cy="586080"/>
          </a:xfrm>
        </p:spPr>
        <p:txBody>
          <a:bodyPr wrap="square">
            <a:noAutofit/>
          </a:bodyPr>
          <a:lstStyle>
            <a:lvl1pPr marL="0" indent="0">
              <a:lnSpc>
                <a:spcPts val="3200"/>
              </a:lnSpc>
              <a:buNone/>
              <a:defRPr sz="3200" baseline="0">
                <a:solidFill>
                  <a:srgbClr val="EA6341"/>
                </a:solidFill>
                <a:latin typeface="+mn-lt"/>
              </a:defRPr>
            </a:lvl1pPr>
          </a:lstStyle>
          <a:p>
            <a:pPr lvl="0"/>
            <a:r>
              <a:rPr lang="nl-BE" dirty="0"/>
              <a:t>Subheadline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760250" y="2864513"/>
            <a:ext cx="988566" cy="790853"/>
          </a:xfrm>
          <a:prstGeom prst="rect">
            <a:avLst/>
          </a:prstGeom>
          <a:solidFill>
            <a:srgbClr val="42B7BA"/>
          </a:solidFill>
        </p:spPr>
      </p:pic>
      <p:sp>
        <p:nvSpPr>
          <p:cNvPr id="19" name="TextBox 18"/>
          <p:cNvSpPr txBox="1"/>
          <p:nvPr userDrawn="1"/>
        </p:nvSpPr>
        <p:spPr>
          <a:xfrm>
            <a:off x="-2359859" y="3655366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R:66 G:183</a:t>
            </a:r>
            <a:r>
              <a:rPr lang="nl-BE" baseline="0" dirty="0"/>
              <a:t> </a:t>
            </a:r>
            <a:r>
              <a:rPr lang="nl-BE" dirty="0"/>
              <a:t>B:186</a:t>
            </a:r>
          </a:p>
        </p:txBody>
      </p:sp>
    </p:spTree>
    <p:extLst>
      <p:ext uri="{BB962C8B-B14F-4D97-AF65-F5344CB8AC3E}">
        <p14:creationId xmlns:p14="http://schemas.microsoft.com/office/powerpoint/2010/main" val="1836134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297772"/>
          </a:xfrm>
        </p:spPr>
        <p:txBody>
          <a:bodyPr>
            <a:noAutofit/>
          </a:bodyPr>
          <a:lstStyle>
            <a:lvl1pPr marL="457200" indent="-457200">
              <a:buClr>
                <a:srgbClr val="FF681E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2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297772"/>
          </a:xfrm>
        </p:spPr>
        <p:txBody>
          <a:bodyPr>
            <a:noAutofit/>
          </a:bodyPr>
          <a:lstStyle>
            <a:lvl1pPr marL="228600" indent="-228600">
              <a:buClr>
                <a:srgbClr val="FF681E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2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760248" y="333989"/>
            <a:ext cx="975163" cy="780130"/>
          </a:xfrm>
          <a:prstGeom prst="rect">
            <a:avLst/>
          </a:prstGeom>
          <a:solidFill>
            <a:srgbClr val="FF681E"/>
          </a:solidFill>
        </p:spPr>
      </p:pic>
      <p:sp>
        <p:nvSpPr>
          <p:cNvPr id="9" name="TextBox 8"/>
          <p:cNvSpPr txBox="1"/>
          <p:nvPr userDrawn="1"/>
        </p:nvSpPr>
        <p:spPr>
          <a:xfrm>
            <a:off x="-2359859" y="1138001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R:255 G:104 30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760250" y="1571312"/>
            <a:ext cx="975165" cy="780132"/>
          </a:xfrm>
          <a:prstGeom prst="rect">
            <a:avLst/>
          </a:prstGeom>
          <a:solidFill>
            <a:srgbClr val="5A2A82"/>
          </a:solidFill>
        </p:spPr>
      </p:pic>
      <p:sp>
        <p:nvSpPr>
          <p:cNvPr id="11" name="TextBox 10"/>
          <p:cNvSpPr txBox="1"/>
          <p:nvPr userDrawn="1"/>
        </p:nvSpPr>
        <p:spPr>
          <a:xfrm>
            <a:off x="-2359859" y="2362165"/>
            <a:ext cx="189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R:90 G:42 B:130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-1760248" y="5541279"/>
            <a:ext cx="988564" cy="790853"/>
          </a:xfrm>
          <a:prstGeom prst="rect">
            <a:avLst/>
          </a:prstGeom>
          <a:solidFill>
            <a:srgbClr val="7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5" name="TextBox 14"/>
          <p:cNvSpPr txBox="1"/>
          <p:nvPr userDrawn="1"/>
        </p:nvSpPr>
        <p:spPr>
          <a:xfrm>
            <a:off x="-2419436" y="6352143"/>
            <a:ext cx="2131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R:124 G:124 </a:t>
            </a:r>
            <a:r>
              <a:rPr lang="nl-BE" baseline="0" dirty="0"/>
              <a:t> </a:t>
            </a:r>
            <a:r>
              <a:rPr lang="nl-BE" dirty="0"/>
              <a:t>B:124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1773649" y="4203052"/>
            <a:ext cx="988564" cy="790853"/>
          </a:xfrm>
          <a:prstGeom prst="rect">
            <a:avLst/>
          </a:prstGeom>
          <a:solidFill>
            <a:srgbClr val="1B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7" name="TextBox 16"/>
          <p:cNvSpPr txBox="1"/>
          <p:nvPr userDrawn="1"/>
        </p:nvSpPr>
        <p:spPr>
          <a:xfrm>
            <a:off x="-2293435" y="5011581"/>
            <a:ext cx="1819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R:27 G:41 </a:t>
            </a:r>
            <a:r>
              <a:rPr lang="nl-BE" baseline="0" dirty="0"/>
              <a:t> </a:t>
            </a:r>
            <a:r>
              <a:rPr lang="nl-BE" dirty="0"/>
              <a:t>B:68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760250" y="2864513"/>
            <a:ext cx="988566" cy="790853"/>
          </a:xfrm>
          <a:prstGeom prst="rect">
            <a:avLst/>
          </a:prstGeom>
          <a:solidFill>
            <a:srgbClr val="42B7BA"/>
          </a:solidFill>
        </p:spPr>
      </p:pic>
      <p:sp>
        <p:nvSpPr>
          <p:cNvPr id="19" name="TextBox 18"/>
          <p:cNvSpPr txBox="1"/>
          <p:nvPr userDrawn="1"/>
        </p:nvSpPr>
        <p:spPr>
          <a:xfrm>
            <a:off x="-2359859" y="3655366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R:66 G:183</a:t>
            </a:r>
            <a:r>
              <a:rPr lang="nl-BE" baseline="0" dirty="0"/>
              <a:t> </a:t>
            </a:r>
            <a:r>
              <a:rPr lang="nl-BE" dirty="0"/>
              <a:t>B:186</a:t>
            </a:r>
          </a:p>
        </p:txBody>
      </p:sp>
    </p:spTree>
    <p:extLst>
      <p:ext uri="{BB962C8B-B14F-4D97-AF65-F5344CB8AC3E}">
        <p14:creationId xmlns:p14="http://schemas.microsoft.com/office/powerpoint/2010/main" val="2454994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760248" y="333989"/>
            <a:ext cx="975163" cy="780130"/>
          </a:xfrm>
          <a:prstGeom prst="rect">
            <a:avLst/>
          </a:prstGeom>
          <a:solidFill>
            <a:srgbClr val="FF681E"/>
          </a:solidFill>
        </p:spPr>
      </p:pic>
      <p:sp>
        <p:nvSpPr>
          <p:cNvPr id="7" name="TextBox 6"/>
          <p:cNvSpPr txBox="1"/>
          <p:nvPr userDrawn="1"/>
        </p:nvSpPr>
        <p:spPr>
          <a:xfrm>
            <a:off x="-2359859" y="1138001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R:255 G:104 30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760250" y="1571312"/>
            <a:ext cx="975165" cy="780132"/>
          </a:xfrm>
          <a:prstGeom prst="rect">
            <a:avLst/>
          </a:prstGeom>
          <a:solidFill>
            <a:srgbClr val="5A2A82"/>
          </a:solidFill>
        </p:spPr>
      </p:pic>
      <p:sp>
        <p:nvSpPr>
          <p:cNvPr id="9" name="TextBox 8"/>
          <p:cNvSpPr txBox="1"/>
          <p:nvPr userDrawn="1"/>
        </p:nvSpPr>
        <p:spPr>
          <a:xfrm>
            <a:off x="-2359859" y="2362165"/>
            <a:ext cx="189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R:90 G:42 B:130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-1760248" y="5541279"/>
            <a:ext cx="988564" cy="790853"/>
          </a:xfrm>
          <a:prstGeom prst="rect">
            <a:avLst/>
          </a:prstGeom>
          <a:solidFill>
            <a:srgbClr val="7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3" name="TextBox 12"/>
          <p:cNvSpPr txBox="1"/>
          <p:nvPr userDrawn="1"/>
        </p:nvSpPr>
        <p:spPr>
          <a:xfrm>
            <a:off x="-2419436" y="6352143"/>
            <a:ext cx="2131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R:124 G:124 </a:t>
            </a:r>
            <a:r>
              <a:rPr lang="nl-BE" baseline="0" dirty="0"/>
              <a:t> </a:t>
            </a:r>
            <a:r>
              <a:rPr lang="nl-BE" dirty="0"/>
              <a:t>B:124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-1773649" y="4203052"/>
            <a:ext cx="988564" cy="790853"/>
          </a:xfrm>
          <a:prstGeom prst="rect">
            <a:avLst/>
          </a:prstGeom>
          <a:solidFill>
            <a:srgbClr val="1B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5" name="TextBox 14"/>
          <p:cNvSpPr txBox="1"/>
          <p:nvPr userDrawn="1"/>
        </p:nvSpPr>
        <p:spPr>
          <a:xfrm>
            <a:off x="-2293435" y="5011581"/>
            <a:ext cx="1819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R:27 G:41 </a:t>
            </a:r>
            <a:r>
              <a:rPr lang="nl-BE" baseline="0" dirty="0"/>
              <a:t> </a:t>
            </a:r>
            <a:r>
              <a:rPr lang="nl-BE" dirty="0"/>
              <a:t>B:68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760250" y="2864513"/>
            <a:ext cx="988566" cy="790853"/>
          </a:xfrm>
          <a:prstGeom prst="rect">
            <a:avLst/>
          </a:prstGeom>
          <a:solidFill>
            <a:srgbClr val="42B7BA"/>
          </a:solidFill>
        </p:spPr>
      </p:pic>
      <p:sp>
        <p:nvSpPr>
          <p:cNvPr id="17" name="TextBox 16"/>
          <p:cNvSpPr txBox="1"/>
          <p:nvPr userDrawn="1"/>
        </p:nvSpPr>
        <p:spPr>
          <a:xfrm>
            <a:off x="-2359859" y="3655366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R:66 G:183</a:t>
            </a:r>
            <a:r>
              <a:rPr lang="nl-BE" baseline="0" dirty="0"/>
              <a:t> </a:t>
            </a:r>
            <a:r>
              <a:rPr lang="nl-BE" dirty="0"/>
              <a:t>B:186</a:t>
            </a:r>
          </a:p>
        </p:txBody>
      </p:sp>
    </p:spTree>
    <p:extLst>
      <p:ext uri="{BB962C8B-B14F-4D97-AF65-F5344CB8AC3E}">
        <p14:creationId xmlns:p14="http://schemas.microsoft.com/office/powerpoint/2010/main" val="2018628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760248" y="333989"/>
            <a:ext cx="975163" cy="780130"/>
          </a:xfrm>
          <a:prstGeom prst="rect">
            <a:avLst/>
          </a:prstGeom>
          <a:solidFill>
            <a:srgbClr val="FF681E"/>
          </a:solidFill>
        </p:spPr>
      </p:pic>
      <p:sp>
        <p:nvSpPr>
          <p:cNvPr id="6" name="TextBox 5"/>
          <p:cNvSpPr txBox="1"/>
          <p:nvPr userDrawn="1"/>
        </p:nvSpPr>
        <p:spPr>
          <a:xfrm>
            <a:off x="-2359859" y="1138001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R:255 G:104 30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760250" y="1571312"/>
            <a:ext cx="975165" cy="780132"/>
          </a:xfrm>
          <a:prstGeom prst="rect">
            <a:avLst/>
          </a:prstGeom>
          <a:solidFill>
            <a:srgbClr val="5A2A82"/>
          </a:solidFill>
        </p:spPr>
      </p:pic>
      <p:sp>
        <p:nvSpPr>
          <p:cNvPr id="8" name="TextBox 7"/>
          <p:cNvSpPr txBox="1"/>
          <p:nvPr userDrawn="1"/>
        </p:nvSpPr>
        <p:spPr>
          <a:xfrm>
            <a:off x="-2359859" y="2362165"/>
            <a:ext cx="189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R:90 G:42 B:130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-1760248" y="5541279"/>
            <a:ext cx="988564" cy="790853"/>
          </a:xfrm>
          <a:prstGeom prst="rect">
            <a:avLst/>
          </a:prstGeom>
          <a:solidFill>
            <a:srgbClr val="7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2" name="TextBox 11"/>
          <p:cNvSpPr txBox="1"/>
          <p:nvPr userDrawn="1"/>
        </p:nvSpPr>
        <p:spPr>
          <a:xfrm>
            <a:off x="-2419436" y="6352143"/>
            <a:ext cx="2131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R:124 G:124 </a:t>
            </a:r>
            <a:r>
              <a:rPr lang="nl-BE" baseline="0" dirty="0"/>
              <a:t> </a:t>
            </a:r>
            <a:r>
              <a:rPr lang="nl-BE" dirty="0"/>
              <a:t>B:124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-1773649" y="4203052"/>
            <a:ext cx="988564" cy="790853"/>
          </a:xfrm>
          <a:prstGeom prst="rect">
            <a:avLst/>
          </a:prstGeom>
          <a:solidFill>
            <a:srgbClr val="1B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4" name="TextBox 13"/>
          <p:cNvSpPr txBox="1"/>
          <p:nvPr userDrawn="1"/>
        </p:nvSpPr>
        <p:spPr>
          <a:xfrm>
            <a:off x="-2293435" y="5011581"/>
            <a:ext cx="1819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R:27 G:41 </a:t>
            </a:r>
            <a:r>
              <a:rPr lang="nl-BE" baseline="0" dirty="0"/>
              <a:t> </a:t>
            </a:r>
            <a:r>
              <a:rPr lang="nl-BE" dirty="0"/>
              <a:t>B:68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760250" y="2864513"/>
            <a:ext cx="988566" cy="790853"/>
          </a:xfrm>
          <a:prstGeom prst="rect">
            <a:avLst/>
          </a:prstGeom>
          <a:solidFill>
            <a:srgbClr val="42B7BA"/>
          </a:solidFill>
        </p:spPr>
      </p:pic>
      <p:sp>
        <p:nvSpPr>
          <p:cNvPr id="16" name="TextBox 15"/>
          <p:cNvSpPr txBox="1"/>
          <p:nvPr userDrawn="1"/>
        </p:nvSpPr>
        <p:spPr>
          <a:xfrm>
            <a:off x="-2359859" y="3655366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R:66 G:183</a:t>
            </a:r>
            <a:r>
              <a:rPr lang="nl-BE" baseline="0" dirty="0"/>
              <a:t> </a:t>
            </a:r>
            <a:r>
              <a:rPr lang="nl-BE" dirty="0"/>
              <a:t>B:186</a:t>
            </a:r>
          </a:p>
        </p:txBody>
      </p:sp>
    </p:spTree>
    <p:extLst>
      <p:ext uri="{BB962C8B-B14F-4D97-AF65-F5344CB8AC3E}">
        <p14:creationId xmlns:p14="http://schemas.microsoft.com/office/powerpoint/2010/main" val="1354308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0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ght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7D328-C1FC-DBD4-5B51-18F689FDC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2AFF7-54A2-B63D-267C-D90444BA20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92288"/>
            <a:ext cx="10515600" cy="4700587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1pPr>
            <a:lvl2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2pPr>
            <a:lvl3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3pPr>
            <a:lvl4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4pPr>
            <a:lvl5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19550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39063F29-F45C-4C97-BF98-45F4DEB27730}" type="datetimeFigureOut">
              <a:rPr lang="nl-BE" smtClean="0"/>
              <a:pPr/>
              <a:t>22/09/2026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B1E3F558-74D7-4DE7-865B-0F3399673619}" type="slidenum">
              <a:rPr lang="nl-BE" smtClean="0"/>
              <a:pPr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76236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9" r:id="rId3"/>
    <p:sldLayoutId id="2147483650" r:id="rId4"/>
    <p:sldLayoutId id="2147483658" r:id="rId5"/>
    <p:sldLayoutId id="2147483652" r:id="rId6"/>
    <p:sldLayoutId id="2147483654" r:id="rId7"/>
    <p:sldLayoutId id="2147483655" r:id="rId8"/>
    <p:sldLayoutId id="2147483660" r:id="rId9"/>
    <p:sldLayoutId id="2147483662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1B2944"/>
          </a:solidFill>
          <a:latin typeface="Corbel" panose="020B0503020204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B2944"/>
          </a:solidFill>
          <a:latin typeface="Corbel" panose="020B05030202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3"/>
        </a:buBlip>
        <a:defRPr sz="2400" kern="1200">
          <a:solidFill>
            <a:srgbClr val="1B2944"/>
          </a:solidFill>
          <a:latin typeface="Corbel" panose="020B0503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B2944"/>
          </a:solidFill>
          <a:latin typeface="Corbel" panose="020B0503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B2944"/>
          </a:solidFill>
          <a:latin typeface="Corbel" panose="020B0503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B2944"/>
          </a:solidFill>
          <a:latin typeface="Corbel" panose="020B05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s://www.ilastik.org/documentation/" TargetMode="External"/><Relationship Id="rId7" Type="http://schemas.openxmlformats.org/officeDocument/2006/relationships/image" Target="../media/image19.png"/><Relationship Id="rId2" Type="http://schemas.openxmlformats.org/officeDocument/2006/relationships/hyperlink" Target="https://www.ilastik.org/download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hyperlink" Target="https://forum.image.sc/tag/ilastik/527" TargetMode="External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.png"/><Relationship Id="rId7" Type="http://schemas.openxmlformats.org/officeDocument/2006/relationships/image" Target="../media/image4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0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4.jpeg"/><Relationship Id="rId4" Type="http://schemas.openxmlformats.org/officeDocument/2006/relationships/image" Target="../media/image53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10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qupath.github.io/" TargetMode="External"/><Relationship Id="rId13" Type="http://schemas.openxmlformats.org/officeDocument/2006/relationships/hyperlink" Target="https://www.ilastik.org/documentation/" TargetMode="External"/><Relationship Id="rId3" Type="http://schemas.openxmlformats.org/officeDocument/2006/relationships/hyperlink" Target="https://www.ilastik.org/documentation/carving/carving" TargetMode="External"/><Relationship Id="rId7" Type="http://schemas.openxmlformats.org/officeDocument/2006/relationships/hyperlink" Target="https://github.com/ilastik/ilastik-napari" TargetMode="External"/><Relationship Id="rId12" Type="http://schemas.openxmlformats.org/officeDocument/2006/relationships/hyperlink" Target="https://www.youtube.com/watch?v=F6KbJ487iiU" TargetMode="External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imagej.net/plugins/tws/" TargetMode="External"/><Relationship Id="rId11" Type="http://schemas.openxmlformats.org/officeDocument/2006/relationships/image" Target="../media/image88.png"/><Relationship Id="rId5" Type="http://schemas.openxmlformats.org/officeDocument/2006/relationships/image" Target="../media/image85.png"/><Relationship Id="rId10" Type="http://schemas.openxmlformats.org/officeDocument/2006/relationships/image" Target="../media/image87.png"/><Relationship Id="rId4" Type="http://schemas.openxmlformats.org/officeDocument/2006/relationships/hyperlink" Target="https://www.ilastik.org/documentation/tracking/tracking" TargetMode="External"/><Relationship Id="rId9" Type="http://schemas.openxmlformats.org/officeDocument/2006/relationships/image" Target="../media/image86.png"/><Relationship Id="rId14" Type="http://schemas.openxmlformats.org/officeDocument/2006/relationships/image" Target="../media/image8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dirty="0" err="1"/>
              <a:t>Ilastik</a:t>
            </a:r>
            <a:endParaRPr lang="nl-B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8343500" y="6315182"/>
            <a:ext cx="3617360" cy="542818"/>
          </a:xfrm>
        </p:spPr>
        <p:txBody>
          <a:bodyPr>
            <a:normAutofit/>
          </a:bodyPr>
          <a:lstStyle/>
          <a:p>
            <a:r>
              <a:rPr lang="nl-BE" dirty="0"/>
              <a:t>Benjamin PAVIE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nl-BE" dirty="0"/>
              <a:t>2026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04005EC-778F-46ED-ACB7-4A4AF32215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4301" y="3756148"/>
            <a:ext cx="9432043" cy="822817"/>
          </a:xfrm>
        </p:spPr>
        <p:txBody>
          <a:bodyPr>
            <a:normAutofit/>
          </a:bodyPr>
          <a:lstStyle/>
          <a:p>
            <a:r>
              <a:rPr lang="nl-BE" b="1" dirty="0"/>
              <a:t>User-</a:t>
            </a:r>
            <a:r>
              <a:rPr lang="nl-BE" b="1" dirty="0" err="1"/>
              <a:t>friendly</a:t>
            </a:r>
            <a:r>
              <a:rPr lang="nl-BE" b="1" dirty="0"/>
              <a:t> machine-</a:t>
            </a:r>
            <a:r>
              <a:rPr lang="nl-BE" b="1" dirty="0" err="1"/>
              <a:t>learning</a:t>
            </a:r>
            <a:r>
              <a:rPr lang="nl-BE" b="1" dirty="0"/>
              <a:t>-</a:t>
            </a:r>
            <a:r>
              <a:rPr lang="nl-BE" b="1" dirty="0" err="1"/>
              <a:t>based</a:t>
            </a:r>
            <a:r>
              <a:rPr lang="nl-BE" b="1" dirty="0"/>
              <a:t> image analysis</a:t>
            </a:r>
            <a:endParaRPr lang="nl-BE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85D2E58-1147-4BE1-83B0-BB6FCEB6AD48}"/>
              </a:ext>
            </a:extLst>
          </p:cNvPr>
          <p:cNvSpPr txBox="1">
            <a:spLocks/>
          </p:cNvSpPr>
          <p:nvPr/>
        </p:nvSpPr>
        <p:spPr>
          <a:xfrm>
            <a:off x="8343500" y="6560160"/>
            <a:ext cx="3617360" cy="22198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2400" kern="1200">
                <a:solidFill>
                  <a:srgbClr val="1B2944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1B2944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B2944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B2944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dirty="0"/>
              <a:t>Benjamin.pavie@vib.be</a:t>
            </a:r>
          </a:p>
        </p:txBody>
      </p:sp>
      <p:pic>
        <p:nvPicPr>
          <p:cNvPr id="10" name="Picture 9" descr="https://chanzuckerberg.com/wp-content/uploads/2021/08/ilastik-logo-alternate-colors-Anna-Kreshuk.png">
            <a:extLst>
              <a:ext uri="{FF2B5EF4-FFF2-40B4-BE49-F238E27FC236}">
                <a16:creationId xmlns:a16="http://schemas.microsoft.com/office/drawing/2014/main" id="{2329F9FA-5395-5A00-C3B8-6994B6A3E0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9713" y="855518"/>
            <a:ext cx="3582287" cy="5146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299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AAE67-3E4B-B062-BCBE-4D6952CF7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18" y="365126"/>
            <a:ext cx="11887200" cy="772876"/>
          </a:xfrm>
        </p:spPr>
        <p:txBody>
          <a:bodyPr/>
          <a:lstStyle/>
          <a:p>
            <a:r>
              <a:rPr lang="en-BE" b="0" dirty="0"/>
              <a:t>Segmentation is </a:t>
            </a:r>
            <a:r>
              <a:rPr lang="en-BE" dirty="0"/>
              <a:t>THE</a:t>
            </a:r>
            <a:r>
              <a:rPr lang="en-BE" b="0" dirty="0"/>
              <a:t> bottleneck of image analysis</a:t>
            </a:r>
            <a:endParaRPr lang="en-US" b="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906FBB7-F752-2015-EC50-08408F1B863E}"/>
              </a:ext>
            </a:extLst>
          </p:cNvPr>
          <p:cNvSpPr txBox="1">
            <a:spLocks/>
          </p:cNvSpPr>
          <p:nvPr/>
        </p:nvSpPr>
        <p:spPr>
          <a:xfrm>
            <a:off x="792000" y="343593"/>
            <a:ext cx="10608000" cy="7091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B2944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 algn="ctr"/>
            <a:endParaRPr lang="en-US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923507-4580-5663-5752-402584CDB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100" y="1311808"/>
            <a:ext cx="5227800" cy="522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815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>
            <a:spLocks/>
          </p:cNvSpPr>
          <p:nvPr/>
        </p:nvSpPr>
        <p:spPr>
          <a:xfrm>
            <a:off x="838200" y="365126"/>
            <a:ext cx="10515600" cy="7728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B2944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r>
              <a:rPr lang="en-BE" dirty="0" err="1"/>
              <a:t>Ilastik</a:t>
            </a:r>
            <a:r>
              <a:rPr lang="en-BE" dirty="0"/>
              <a:t>: Segmentation for the people</a:t>
            </a:r>
            <a:endParaRPr lang="nl-BE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D09F6C22-84EA-6E03-50A6-7B13B33587B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0" cy="0"/>
          </a:xfrm>
        </p:spPr>
        <p:txBody>
          <a:bodyPr/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Picture 2" descr="Anna Kreshuk, Interim Head of Unit for CBB | People | EMBL">
            <a:extLst>
              <a:ext uri="{FF2B5EF4-FFF2-40B4-BE49-F238E27FC236}">
                <a16:creationId xmlns:a16="http://schemas.microsoft.com/office/drawing/2014/main" id="{E057CFB2-FA7B-9AE2-A091-773B89955F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8940" y="1422341"/>
            <a:ext cx="1062992" cy="1200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C1828A-64A0-5F4E-7838-DA49C8FCB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9905" y="960209"/>
            <a:ext cx="1520190" cy="654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AFBCE5-0037-3DA7-8B91-DF98B1A1765E}"/>
              </a:ext>
            </a:extLst>
          </p:cNvPr>
          <p:cNvSpPr txBox="1"/>
          <p:nvPr/>
        </p:nvSpPr>
        <p:spPr>
          <a:xfrm>
            <a:off x="219309" y="6581001"/>
            <a:ext cx="28210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1" dirty="0">
                <a:solidFill>
                  <a:srgbClr val="333333"/>
                </a:solidFill>
                <a:effectLst/>
                <a:latin typeface="HelveticaNeue Regular"/>
              </a:rPr>
              <a:t>2011 </a:t>
            </a:r>
            <a:r>
              <a:rPr lang="en-US" sz="1200" b="0" i="0" dirty="0" err="1">
                <a:solidFill>
                  <a:srgbClr val="333333"/>
                </a:solidFill>
                <a:effectLst/>
                <a:latin typeface="HelveticaNeue Regular"/>
              </a:rPr>
              <a:t>doi</a:t>
            </a:r>
            <a:r>
              <a:rPr lang="en-US" sz="1200" b="0" i="0" dirty="0">
                <a:solidFill>
                  <a:srgbClr val="333333"/>
                </a:solidFill>
                <a:effectLst/>
                <a:latin typeface="HelveticaNeue Regular"/>
              </a:rPr>
              <a:t>: 10.1109/ISBI.2011.5872394</a:t>
            </a:r>
            <a:endParaRPr lang="en-US" sz="1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9860248-5E1F-A7F0-4F5A-509E6C3C40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309" y="5743409"/>
            <a:ext cx="4185051" cy="804520"/>
          </a:xfrm>
          <a:prstGeom prst="rect">
            <a:avLst/>
          </a:prstGeom>
        </p:spPr>
      </p:pic>
      <p:pic>
        <p:nvPicPr>
          <p:cNvPr id="23" name="Picture 12">
            <a:extLst>
              <a:ext uri="{FF2B5EF4-FFF2-40B4-BE49-F238E27FC236}">
                <a16:creationId xmlns:a16="http://schemas.microsoft.com/office/drawing/2014/main" id="{19F79EFB-AAA7-E2D6-C111-8EC840E90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1123" y="1599897"/>
            <a:ext cx="7369654" cy="4143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5D1112D-18ED-4684-5CD1-1BD381F3EC82}"/>
              </a:ext>
            </a:extLst>
          </p:cNvPr>
          <p:cNvSpPr txBox="1"/>
          <p:nvPr/>
        </p:nvSpPr>
        <p:spPr>
          <a:xfrm>
            <a:off x="10285096" y="2611037"/>
            <a:ext cx="1630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1A1C1A"/>
                </a:solidFill>
                <a:effectLst/>
                <a:latin typeface="IBM Plex Sans" panose="020B0503050203000203" pitchFamily="34" charset="0"/>
              </a:rPr>
              <a:t>A</a:t>
            </a:r>
            <a:r>
              <a:rPr lang="en-BE" b="0" i="0" dirty="0" err="1">
                <a:solidFill>
                  <a:srgbClr val="1A1C1A"/>
                </a:solidFill>
                <a:effectLst/>
                <a:latin typeface="IBM Plex Sans" panose="020B0503050203000203" pitchFamily="34" charset="0"/>
              </a:rPr>
              <a:t>nna</a:t>
            </a:r>
            <a:r>
              <a:rPr lang="en-BE" b="0" i="0" dirty="0">
                <a:solidFill>
                  <a:srgbClr val="1A1C1A"/>
                </a:solidFill>
                <a:effectLst/>
                <a:latin typeface="IBM Plex Sans" panose="020B0503050203000203" pitchFamily="34" charset="0"/>
              </a:rPr>
              <a:t> </a:t>
            </a:r>
            <a:r>
              <a:rPr lang="en-BE" b="0" i="0" dirty="0" err="1">
                <a:solidFill>
                  <a:srgbClr val="1A1C1A"/>
                </a:solidFill>
                <a:effectLst/>
                <a:latin typeface="IBM Plex Sans" panose="020B0503050203000203" pitchFamily="34" charset="0"/>
              </a:rPr>
              <a:t>Kreshuk</a:t>
            </a:r>
            <a:endParaRPr lang="en-BE" b="0" i="0" dirty="0">
              <a:solidFill>
                <a:srgbClr val="1A1C1A"/>
              </a:solidFill>
              <a:effectLst/>
              <a:latin typeface="IBM Plex Sans" panose="020B0503050203000203" pitchFamily="34" charset="0"/>
            </a:endParaRPr>
          </a:p>
        </p:txBody>
      </p:sp>
      <p:pic>
        <p:nvPicPr>
          <p:cNvPr id="28" name="Picture 18">
            <a:extLst>
              <a:ext uri="{FF2B5EF4-FFF2-40B4-BE49-F238E27FC236}">
                <a16:creationId xmlns:a16="http://schemas.microsoft.com/office/drawing/2014/main" id="{4EB81AE8-4E1B-E970-C502-24539579F8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0" y="1614999"/>
            <a:ext cx="1770849" cy="1770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3143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Ilastik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/>
              <a:t>Installation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1841787"/>
            <a:ext cx="10515600" cy="4274256"/>
          </a:xfrm>
        </p:spPr>
        <p:txBody>
          <a:bodyPr/>
          <a:lstStyle/>
          <a:p>
            <a:r>
              <a:rPr lang="en-US" sz="2400" dirty="0"/>
              <a:t>Installer :                 </a:t>
            </a:r>
            <a:r>
              <a:rPr lang="en-US" sz="2400" dirty="0">
                <a:solidFill>
                  <a:srgbClr val="00AADB"/>
                </a:solidFill>
                <a:hlinkClick r:id="rId2"/>
              </a:rPr>
              <a:t>https://www.ilastik.org/download</a:t>
            </a:r>
            <a:r>
              <a:rPr lang="en-US" sz="2400" dirty="0">
                <a:solidFill>
                  <a:srgbClr val="00AADB"/>
                </a:solidFill>
              </a:rPr>
              <a:t> </a:t>
            </a:r>
            <a:endParaRPr lang="en-US" sz="2400" dirty="0"/>
          </a:p>
          <a:p>
            <a:r>
              <a:rPr lang="en-US" sz="2400" dirty="0"/>
              <a:t>Documentation : </a:t>
            </a:r>
            <a:r>
              <a:rPr lang="en-US" sz="2400" dirty="0">
                <a:solidFill>
                  <a:srgbClr val="00AADB"/>
                </a:solidFill>
                <a:hlinkClick r:id="rId3"/>
              </a:rPr>
              <a:t>https://www.ilastik.org/documentation/</a:t>
            </a:r>
            <a:r>
              <a:rPr lang="en-US" sz="2400" dirty="0">
                <a:solidFill>
                  <a:srgbClr val="00AADB"/>
                </a:solidFill>
              </a:rPr>
              <a:t> </a:t>
            </a:r>
          </a:p>
          <a:p>
            <a:r>
              <a:rPr lang="en-US" sz="2400" dirty="0">
                <a:solidFill>
                  <a:schemeClr val="tx1"/>
                </a:solidFill>
              </a:rPr>
              <a:t>Forum :                    </a:t>
            </a:r>
            <a:r>
              <a:rPr lang="en-US" sz="2400" dirty="0">
                <a:solidFill>
                  <a:srgbClr val="00AADB"/>
                </a:solidFill>
                <a:hlinkClick r:id="rId4"/>
              </a:rPr>
              <a:t>https://forum.image.sc/tag/ilastik/527</a:t>
            </a:r>
            <a:r>
              <a:rPr lang="en-US" sz="2400" dirty="0">
                <a:solidFill>
                  <a:srgbClr val="00AADB"/>
                </a:solidFill>
              </a:rPr>
              <a:t> </a:t>
            </a:r>
          </a:p>
          <a:p>
            <a:endParaRPr lang="en-US" sz="2400" dirty="0">
              <a:solidFill>
                <a:srgbClr val="00AADB"/>
              </a:solidFill>
            </a:endParaRPr>
          </a:p>
          <a:p>
            <a:endParaRPr lang="en-US" sz="1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903B61-F3C9-4B09-BDF0-8E8E178476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490" y="4611035"/>
            <a:ext cx="1722257" cy="17222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889910D-A470-407B-905C-B97DB079AD5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626" y="4581236"/>
            <a:ext cx="1449943" cy="17222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3EA404-030D-70E3-F373-D9883A3B497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968" r="8430"/>
          <a:stretch>
            <a:fillRect/>
          </a:stretch>
        </p:blipFill>
        <p:spPr>
          <a:xfrm>
            <a:off x="8664447" y="1952859"/>
            <a:ext cx="3203923" cy="2774145"/>
          </a:xfrm>
          <a:prstGeom prst="rect">
            <a:avLst/>
          </a:prstGeom>
        </p:spPr>
      </p:pic>
      <p:pic>
        <p:nvPicPr>
          <p:cNvPr id="12" name="Picture 11" descr="https://chanzuckerberg.com/wp-content/uploads/2021/08/ilastik-logo-alternate-colors-Anna-Kreshuk.png">
            <a:extLst>
              <a:ext uri="{FF2B5EF4-FFF2-40B4-BE49-F238E27FC236}">
                <a16:creationId xmlns:a16="http://schemas.microsoft.com/office/drawing/2014/main" id="{2F4429D1-872C-E7E3-7BC9-EB41B85563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04790" y="205516"/>
            <a:ext cx="1298020" cy="18649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14382AF-3761-4946-8F75-F4A097C80E3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6012" y="4569277"/>
            <a:ext cx="1454916" cy="172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806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3B1B5B44-FB07-7830-5E1B-8B68C7D0A092}"/>
              </a:ext>
            </a:extLst>
          </p:cNvPr>
          <p:cNvSpPr/>
          <p:nvPr/>
        </p:nvSpPr>
        <p:spPr>
          <a:xfrm>
            <a:off x="9896354" y="6197729"/>
            <a:ext cx="2096070" cy="4702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230713" y="63894"/>
            <a:ext cx="10449478" cy="11054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B2944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r>
              <a:rPr lang="nl-BE" dirty="0"/>
              <a:t>Machine </a:t>
            </a:r>
            <a:r>
              <a:rPr lang="nl-BE" dirty="0" err="1"/>
              <a:t>Leaning</a:t>
            </a:r>
            <a:r>
              <a:rPr lang="nl-BE" dirty="0"/>
              <a:t> in Image Analysis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9035581" y="6521519"/>
            <a:ext cx="178125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pPr algn="ctr"/>
            <a:r>
              <a:rPr lang="en-US" sz="1400" i="1" dirty="0">
                <a:solidFill>
                  <a:srgbClr val="000000"/>
                </a:solidFill>
                <a:latin typeface="+mn-lt"/>
                <a:ea typeface="Constantia" charset="0"/>
                <a:cs typeface="Constantia" charset="0"/>
              </a:rPr>
              <a:t>Probability Mask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5580876" y="5981043"/>
            <a:ext cx="21616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Constantia" charset="0"/>
                <a:ea typeface="Constantia" charset="0"/>
                <a:cs typeface="Constantia" charset="0"/>
              </a:rPr>
              <a:t>Machine Learning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10297733" y="1907600"/>
            <a:ext cx="382458" cy="669189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1562453" y="6013063"/>
            <a:ext cx="126970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r>
              <a:rPr lang="en-US" sz="1400" i="1" dirty="0">
                <a:solidFill>
                  <a:srgbClr val="000000"/>
                </a:solidFill>
                <a:latin typeface="+mn-lt"/>
                <a:ea typeface="Constantia" charset="0"/>
                <a:cs typeface="Constantia" charset="0"/>
              </a:rPr>
              <a:t>Raw Image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1894276" y="2546545"/>
            <a:ext cx="95407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pPr algn="r"/>
            <a:r>
              <a:rPr lang="en-US" b="1" dirty="0">
                <a:solidFill>
                  <a:srgbClr val="000000"/>
                </a:solidFill>
                <a:latin typeface="+mn-lt"/>
                <a:ea typeface="Constantia" charset="0"/>
                <a:cs typeface="Constantia" charset="0"/>
              </a:rPr>
              <a:t>Generic</a:t>
            </a:r>
          </a:p>
          <a:p>
            <a:pPr algn="r"/>
            <a:r>
              <a:rPr lang="en-US" b="1" dirty="0">
                <a:solidFill>
                  <a:srgbClr val="000000"/>
                </a:solidFill>
                <a:latin typeface="+mn-lt"/>
                <a:ea typeface="Constantia" charset="0"/>
                <a:cs typeface="Constantia" charset="0"/>
              </a:rPr>
              <a:t>Filters    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7BDE88-84D5-13D3-A0C8-FCA020326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700" y="3689276"/>
            <a:ext cx="2305807" cy="22599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6DD0844-999D-3F23-06F6-DAD3AA63C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406" y="1417319"/>
            <a:ext cx="2305808" cy="226282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42541AE-89CE-32C3-69B3-BE8A19810F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829" y="1416547"/>
            <a:ext cx="2305931" cy="225999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242E607-71D2-AD95-14A3-08004F71AF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4237" y="1416547"/>
            <a:ext cx="2309260" cy="225999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8BA651B-8CA6-0759-294E-A863E7390E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9331" y="4287045"/>
            <a:ext cx="2216258" cy="2234474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7AD8552-B1F7-8A05-9C94-25CC4A65F1D6}"/>
              </a:ext>
            </a:extLst>
          </p:cNvPr>
          <p:cNvCxnSpPr>
            <a:cxnSpLocks/>
          </p:cNvCxnSpPr>
          <p:nvPr/>
        </p:nvCxnSpPr>
        <p:spPr>
          <a:xfrm flipV="1">
            <a:off x="2427922" y="2414982"/>
            <a:ext cx="1387938" cy="1048696"/>
          </a:xfrm>
          <a:prstGeom prst="straightConnector1">
            <a:avLst/>
          </a:prstGeom>
          <a:ln w="762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D4D96C8-5E18-CAA8-4E47-550147EC3423}"/>
              </a:ext>
            </a:extLst>
          </p:cNvPr>
          <p:cNvCxnSpPr>
            <a:cxnSpLocks/>
          </p:cNvCxnSpPr>
          <p:nvPr/>
        </p:nvCxnSpPr>
        <p:spPr>
          <a:xfrm>
            <a:off x="7715951" y="4043487"/>
            <a:ext cx="820131" cy="1067625"/>
          </a:xfrm>
          <a:prstGeom prst="straightConnector1">
            <a:avLst/>
          </a:prstGeom>
          <a:ln w="762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FA27D54-0C17-DBE2-0CF7-35EBE307781A}"/>
              </a:ext>
            </a:extLst>
          </p:cNvPr>
          <p:cNvSpPr txBox="1"/>
          <p:nvPr/>
        </p:nvSpPr>
        <p:spPr>
          <a:xfrm>
            <a:off x="9041020" y="1139249"/>
            <a:ext cx="2535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Hessian of Gaussian </a:t>
            </a:r>
            <a:r>
              <a:rPr lang="en-US" sz="1400" i="1" dirty="0" err="1"/>
              <a:t>EigenValues</a:t>
            </a:r>
            <a:endParaRPr lang="nl-BE" sz="1400" i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F5F210-6F9C-537F-B11D-E19BE1A42C36}"/>
              </a:ext>
            </a:extLst>
          </p:cNvPr>
          <p:cNvSpPr txBox="1"/>
          <p:nvPr/>
        </p:nvSpPr>
        <p:spPr>
          <a:xfrm>
            <a:off x="6558302" y="1140305"/>
            <a:ext cx="2328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Gaussian Gradient magnitude</a:t>
            </a:r>
            <a:endParaRPr lang="nl-BE" sz="1400" i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C51D7E-5D29-15B1-6492-FA04C7E57C60}"/>
              </a:ext>
            </a:extLst>
          </p:cNvPr>
          <p:cNvSpPr txBox="1"/>
          <p:nvPr/>
        </p:nvSpPr>
        <p:spPr>
          <a:xfrm>
            <a:off x="4468018" y="1139249"/>
            <a:ext cx="1184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Gaussian Blur</a:t>
            </a:r>
            <a:endParaRPr lang="nl-BE" sz="1400" i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19DDB42-FA0E-5401-616C-D1D647744905}"/>
              </a:ext>
            </a:extLst>
          </p:cNvPr>
          <p:cNvSpPr txBox="1"/>
          <p:nvPr/>
        </p:nvSpPr>
        <p:spPr>
          <a:xfrm>
            <a:off x="11469524" y="2242194"/>
            <a:ext cx="52290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…</a:t>
            </a:r>
            <a:endParaRPr lang="nl-BE" sz="3000" b="1" dirty="0"/>
          </a:p>
        </p:txBody>
      </p:sp>
      <p:pic>
        <p:nvPicPr>
          <p:cNvPr id="43" name="Picture 42" descr="https://chanzuckerberg.com/wp-content/uploads/2021/08/ilastik-logo-alternate-colors-Anna-Kreshuk.png">
            <a:extLst>
              <a:ext uri="{FF2B5EF4-FFF2-40B4-BE49-F238E27FC236}">
                <a16:creationId xmlns:a16="http://schemas.microsoft.com/office/drawing/2014/main" id="{96C80213-38E3-5EC3-6B2C-0D1FF1DBD6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46276" y="63894"/>
            <a:ext cx="769396" cy="1105455"/>
          </a:xfrm>
          <a:prstGeom prst="rect">
            <a:avLst/>
          </a:prstGeom>
        </p:spPr>
      </p:pic>
      <p:sp>
        <p:nvSpPr>
          <p:cNvPr id="49" name="Right Brace 48">
            <a:extLst>
              <a:ext uri="{FF2B5EF4-FFF2-40B4-BE49-F238E27FC236}">
                <a16:creationId xmlns:a16="http://schemas.microsoft.com/office/drawing/2014/main" id="{0A61AC3F-3906-E0D3-8B73-13AE9113B938}"/>
              </a:ext>
            </a:extLst>
          </p:cNvPr>
          <p:cNvSpPr/>
          <p:nvPr/>
        </p:nvSpPr>
        <p:spPr>
          <a:xfrm rot="5400000">
            <a:off x="7562063" y="171097"/>
            <a:ext cx="307777" cy="7495092"/>
          </a:xfrm>
          <a:prstGeom prst="rightBrace">
            <a:avLst>
              <a:gd name="adj1" fmla="val 0"/>
              <a:gd name="adj2" fmla="val 50000"/>
            </a:avLst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23A5604-1F47-4F5F-F8E4-CFCF7009CC14}"/>
              </a:ext>
            </a:extLst>
          </p:cNvPr>
          <p:cNvCxnSpPr>
            <a:cxnSpLocks/>
          </p:cNvCxnSpPr>
          <p:nvPr/>
        </p:nvCxnSpPr>
        <p:spPr>
          <a:xfrm flipH="1" flipV="1">
            <a:off x="7731549" y="3918643"/>
            <a:ext cx="1" cy="153889"/>
          </a:xfrm>
          <a:prstGeom prst="line">
            <a:avLst/>
          </a:prstGeom>
          <a:ln w="76200">
            <a:solidFill>
              <a:srgbClr val="FF68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Picture 53">
            <a:extLst>
              <a:ext uri="{FF2B5EF4-FFF2-40B4-BE49-F238E27FC236}">
                <a16:creationId xmlns:a16="http://schemas.microsoft.com/office/drawing/2014/main" id="{0D990190-3925-5871-9FEF-F98BDC42C27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636" y="4181995"/>
            <a:ext cx="2968446" cy="1718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948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61E83-1471-81A7-69A4-4354FD104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Ilastik</a:t>
            </a:r>
            <a:r>
              <a:rPr lang="en-US" dirty="0"/>
              <a:t> </a:t>
            </a:r>
            <a:r>
              <a:rPr lang="en-US" dirty="0" err="1"/>
              <a:t>Worflows</a:t>
            </a:r>
            <a:endParaRPr lang="nl-B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8BB356-6345-B264-4D26-0A8903B343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270" t="69316"/>
          <a:stretch>
            <a:fillRect/>
          </a:stretch>
        </p:blipFill>
        <p:spPr>
          <a:xfrm>
            <a:off x="5122891" y="4302159"/>
            <a:ext cx="2121586" cy="21043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F4DC6E-12EE-4A99-FB8B-FAB6869F01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36" r="50721" b="68100"/>
          <a:stretch>
            <a:fillRect/>
          </a:stretch>
        </p:blipFill>
        <p:spPr>
          <a:xfrm>
            <a:off x="2701253" y="1851699"/>
            <a:ext cx="2102365" cy="20549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E6E3F9C-62BB-57C1-7D45-EE082AE0B3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270" t="35380" b="33936"/>
          <a:stretch>
            <a:fillRect/>
          </a:stretch>
        </p:blipFill>
        <p:spPr>
          <a:xfrm>
            <a:off x="2701253" y="4302160"/>
            <a:ext cx="2121585" cy="21043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B4FFD58-5A92-45B3-4AC9-C78320FAFF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380" r="50720" b="33936"/>
          <a:stretch>
            <a:fillRect/>
          </a:stretch>
        </p:blipFill>
        <p:spPr>
          <a:xfrm>
            <a:off x="7563751" y="1890787"/>
            <a:ext cx="2102365" cy="2104336"/>
          </a:xfrm>
          <a:prstGeom prst="rect">
            <a:avLst/>
          </a:prstGeom>
        </p:spPr>
      </p:pic>
      <p:pic>
        <p:nvPicPr>
          <p:cNvPr id="18" name="Picture 17" descr="https://chanzuckerberg.com/wp-content/uploads/2021/08/ilastik-logo-alternate-colors-Anna-Kreshuk.png">
            <a:extLst>
              <a:ext uri="{FF2B5EF4-FFF2-40B4-BE49-F238E27FC236}">
                <a16:creationId xmlns:a16="http://schemas.microsoft.com/office/drawing/2014/main" id="{C964F71E-D1C3-9190-FDB6-588FCA321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6276" y="63894"/>
            <a:ext cx="769396" cy="110545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094063E-05F3-A735-E013-E1663A2FE2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390" y="1915415"/>
            <a:ext cx="2104336" cy="210433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F96F4DE-8846-F3A0-65B3-B0AD7567B4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2892" y="1900759"/>
            <a:ext cx="2121585" cy="211899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E25C764-2A53-A7D5-2C63-CC68E565C748}"/>
              </a:ext>
            </a:extLst>
          </p:cNvPr>
          <p:cNvSpPr txBox="1"/>
          <p:nvPr/>
        </p:nvSpPr>
        <p:spPr>
          <a:xfrm>
            <a:off x="661792" y="2879170"/>
            <a:ext cx="193354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200" b="1" dirty="0"/>
              <a:t>Segmentation</a:t>
            </a:r>
            <a:endParaRPr lang="nl-BE" sz="22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AB9F8E-913B-7537-BB60-A6D2D321F466}"/>
              </a:ext>
            </a:extLst>
          </p:cNvPr>
          <p:cNvSpPr txBox="1"/>
          <p:nvPr/>
        </p:nvSpPr>
        <p:spPr>
          <a:xfrm>
            <a:off x="75247" y="5251980"/>
            <a:ext cx="256878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200" b="1" dirty="0"/>
              <a:t>Post-Segmentation</a:t>
            </a:r>
            <a:endParaRPr lang="nl-BE" sz="22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37616B-734B-568E-5D8D-DBF69866A27F}"/>
              </a:ext>
            </a:extLst>
          </p:cNvPr>
          <p:cNvSpPr txBox="1"/>
          <p:nvPr/>
        </p:nvSpPr>
        <p:spPr>
          <a:xfrm>
            <a:off x="2804090" y="1521455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Pixel classification</a:t>
            </a:r>
            <a:endParaRPr lang="nl-BE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4443B1-9E34-359D-D8F6-18BDA0CB23C9}"/>
              </a:ext>
            </a:extLst>
          </p:cNvPr>
          <p:cNvSpPr txBox="1"/>
          <p:nvPr/>
        </p:nvSpPr>
        <p:spPr>
          <a:xfrm>
            <a:off x="2804090" y="6432682"/>
            <a:ext cx="2101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Object classification</a:t>
            </a:r>
            <a:endParaRPr lang="nl-BE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88ECEE-0603-2DF5-267D-A7020182A362}"/>
              </a:ext>
            </a:extLst>
          </p:cNvPr>
          <p:cNvSpPr txBox="1"/>
          <p:nvPr/>
        </p:nvSpPr>
        <p:spPr>
          <a:xfrm>
            <a:off x="5346756" y="6406496"/>
            <a:ext cx="1673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Object Tracking</a:t>
            </a:r>
            <a:endParaRPr lang="nl-BE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F29710-0715-F330-5AD4-B0C2487426D3}"/>
              </a:ext>
            </a:extLst>
          </p:cNvPr>
          <p:cNvSpPr txBox="1"/>
          <p:nvPr/>
        </p:nvSpPr>
        <p:spPr>
          <a:xfrm>
            <a:off x="5305078" y="1254428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Boundary-based</a:t>
            </a:r>
          </a:p>
          <a:p>
            <a:r>
              <a:rPr lang="en-US" dirty="0"/>
              <a:t>Segmentation</a:t>
            </a:r>
            <a:endParaRPr lang="nl-BE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BBFC8DB-8E42-685F-49EE-92B78F85FFB3}"/>
              </a:ext>
            </a:extLst>
          </p:cNvPr>
          <p:cNvSpPr txBox="1"/>
          <p:nvPr/>
        </p:nvSpPr>
        <p:spPr>
          <a:xfrm>
            <a:off x="7401213" y="1523156"/>
            <a:ext cx="2320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Carving Segmentation</a:t>
            </a:r>
            <a:endParaRPr lang="nl-BE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688854-8DC5-4349-7D00-99224249DC2F}"/>
              </a:ext>
            </a:extLst>
          </p:cNvPr>
          <p:cNvSpPr txBox="1"/>
          <p:nvPr/>
        </p:nvSpPr>
        <p:spPr>
          <a:xfrm>
            <a:off x="10060771" y="1219216"/>
            <a:ext cx="17043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Neural Network</a:t>
            </a:r>
          </a:p>
          <a:p>
            <a:pPr algn="ctr"/>
            <a:r>
              <a:rPr lang="en-US" dirty="0" err="1"/>
              <a:t>segmentaton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145640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7B16B-64C0-1290-479F-7371A2B08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20674-42F9-5BC6-E7A5-F8FC433FB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Ilastik</a:t>
            </a:r>
            <a:r>
              <a:rPr lang="en-US" dirty="0"/>
              <a:t> </a:t>
            </a:r>
            <a:r>
              <a:rPr lang="en-US" dirty="0" err="1"/>
              <a:t>Worflows</a:t>
            </a:r>
            <a:endParaRPr lang="nl-B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611F18-E17A-8904-9D80-C772A7D1CB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270" t="69316"/>
          <a:stretch>
            <a:fillRect/>
          </a:stretch>
        </p:blipFill>
        <p:spPr>
          <a:xfrm>
            <a:off x="5122891" y="4302159"/>
            <a:ext cx="2121586" cy="21043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FEB0CE-033B-D947-6E20-307B5146CF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36" r="50721" b="68100"/>
          <a:stretch>
            <a:fillRect/>
          </a:stretch>
        </p:blipFill>
        <p:spPr>
          <a:xfrm>
            <a:off x="2701253" y="1851699"/>
            <a:ext cx="2102365" cy="20549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6D9F72F-C659-4D12-CE1B-78046933B3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270" t="35380" b="33936"/>
          <a:stretch>
            <a:fillRect/>
          </a:stretch>
        </p:blipFill>
        <p:spPr>
          <a:xfrm>
            <a:off x="2701253" y="4302160"/>
            <a:ext cx="2121585" cy="21043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25C8755-D2AF-9E2E-6870-D2BA3F596A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380" r="50720" b="33936"/>
          <a:stretch>
            <a:fillRect/>
          </a:stretch>
        </p:blipFill>
        <p:spPr>
          <a:xfrm>
            <a:off x="7563751" y="1890787"/>
            <a:ext cx="2102365" cy="2104336"/>
          </a:xfrm>
          <a:prstGeom prst="rect">
            <a:avLst/>
          </a:prstGeom>
        </p:spPr>
      </p:pic>
      <p:pic>
        <p:nvPicPr>
          <p:cNvPr id="18" name="Picture 17" descr="https://chanzuckerberg.com/wp-content/uploads/2021/08/ilastik-logo-alternate-colors-Anna-Kreshuk.png">
            <a:extLst>
              <a:ext uri="{FF2B5EF4-FFF2-40B4-BE49-F238E27FC236}">
                <a16:creationId xmlns:a16="http://schemas.microsoft.com/office/drawing/2014/main" id="{200F2952-F373-827B-A9DA-FB988CEC2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6276" y="63894"/>
            <a:ext cx="769396" cy="110545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3BDFD94-225C-B54D-AEA6-BA4991278A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390" y="1915415"/>
            <a:ext cx="2104336" cy="210433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B4222E8-725B-176A-9DC4-5FBEFDBCA8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2892" y="1900759"/>
            <a:ext cx="2121585" cy="211899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83AF05A-D6DE-F702-05D0-FA9B633586A9}"/>
              </a:ext>
            </a:extLst>
          </p:cNvPr>
          <p:cNvSpPr txBox="1"/>
          <p:nvPr/>
        </p:nvSpPr>
        <p:spPr>
          <a:xfrm>
            <a:off x="661792" y="2879170"/>
            <a:ext cx="193354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200" b="1" dirty="0"/>
              <a:t>Segmentation</a:t>
            </a:r>
            <a:endParaRPr lang="nl-BE" sz="22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C1C432-2A7B-9063-8102-24B6D4F4AD11}"/>
              </a:ext>
            </a:extLst>
          </p:cNvPr>
          <p:cNvSpPr txBox="1"/>
          <p:nvPr/>
        </p:nvSpPr>
        <p:spPr>
          <a:xfrm>
            <a:off x="75247" y="5251980"/>
            <a:ext cx="256878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200" b="1" dirty="0"/>
              <a:t>Post-Segmentation</a:t>
            </a:r>
            <a:endParaRPr lang="nl-BE" sz="22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35F68A-1B64-5BD5-6313-DEBA59E51978}"/>
              </a:ext>
            </a:extLst>
          </p:cNvPr>
          <p:cNvSpPr txBox="1"/>
          <p:nvPr/>
        </p:nvSpPr>
        <p:spPr>
          <a:xfrm>
            <a:off x="2804090" y="1521455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Pixel classification</a:t>
            </a:r>
            <a:endParaRPr lang="nl-BE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27AA6B-030D-13CA-57D8-486B5A47CD9F}"/>
              </a:ext>
            </a:extLst>
          </p:cNvPr>
          <p:cNvSpPr txBox="1"/>
          <p:nvPr/>
        </p:nvSpPr>
        <p:spPr>
          <a:xfrm>
            <a:off x="2804090" y="6432682"/>
            <a:ext cx="2101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Object classification</a:t>
            </a:r>
            <a:endParaRPr lang="nl-BE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EFD893-1645-F4C4-C311-41BD9FCC12CF}"/>
              </a:ext>
            </a:extLst>
          </p:cNvPr>
          <p:cNvSpPr txBox="1"/>
          <p:nvPr/>
        </p:nvSpPr>
        <p:spPr>
          <a:xfrm>
            <a:off x="5346756" y="6406496"/>
            <a:ext cx="1673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Object Tracking</a:t>
            </a:r>
            <a:endParaRPr lang="nl-BE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E9752E-49F7-74C6-6349-1539D5A32DA2}"/>
              </a:ext>
            </a:extLst>
          </p:cNvPr>
          <p:cNvSpPr txBox="1"/>
          <p:nvPr/>
        </p:nvSpPr>
        <p:spPr>
          <a:xfrm>
            <a:off x="5305078" y="1254428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Boundary-based</a:t>
            </a:r>
          </a:p>
          <a:p>
            <a:r>
              <a:rPr lang="en-US" dirty="0"/>
              <a:t>Segmentation</a:t>
            </a:r>
            <a:endParaRPr lang="nl-BE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BBECD7-C78F-173F-361C-885EBC005C7A}"/>
              </a:ext>
            </a:extLst>
          </p:cNvPr>
          <p:cNvSpPr txBox="1"/>
          <p:nvPr/>
        </p:nvSpPr>
        <p:spPr>
          <a:xfrm>
            <a:off x="7401213" y="1523156"/>
            <a:ext cx="2320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Carving Segmentation</a:t>
            </a:r>
            <a:endParaRPr lang="nl-BE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1EA0EFE-8E40-9E1B-024E-F55001B1C5C1}"/>
              </a:ext>
            </a:extLst>
          </p:cNvPr>
          <p:cNvSpPr txBox="1"/>
          <p:nvPr/>
        </p:nvSpPr>
        <p:spPr>
          <a:xfrm>
            <a:off x="10060771" y="1219216"/>
            <a:ext cx="17043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Neural Network</a:t>
            </a:r>
          </a:p>
          <a:p>
            <a:pPr algn="ctr"/>
            <a:r>
              <a:rPr lang="en-US" dirty="0" err="1"/>
              <a:t>segmentaton</a:t>
            </a:r>
            <a:endParaRPr lang="nl-BE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8A3E6D-0BDC-DAB9-BCA2-A5DF1701FA73}"/>
              </a:ext>
            </a:extLst>
          </p:cNvPr>
          <p:cNvSpPr/>
          <p:nvPr/>
        </p:nvSpPr>
        <p:spPr>
          <a:xfrm>
            <a:off x="5014452" y="1138002"/>
            <a:ext cx="7075274" cy="2962050"/>
          </a:xfrm>
          <a:prstGeom prst="rect">
            <a:avLst/>
          </a:prstGeom>
          <a:solidFill>
            <a:schemeClr val="bg1">
              <a:alpha val="50196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A9D485-4710-F4ED-8F93-C2EC0955D656}"/>
              </a:ext>
            </a:extLst>
          </p:cNvPr>
          <p:cNvSpPr/>
          <p:nvPr/>
        </p:nvSpPr>
        <p:spPr>
          <a:xfrm>
            <a:off x="5107714" y="4216478"/>
            <a:ext cx="4707396" cy="2559350"/>
          </a:xfrm>
          <a:prstGeom prst="rect">
            <a:avLst/>
          </a:prstGeom>
          <a:solidFill>
            <a:schemeClr val="bg1">
              <a:alpha val="50196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18308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344D9-9154-1F22-9DA2-6C6403833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C8A0A-0348-D686-EF58-725705EDF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Ilastik</a:t>
            </a:r>
            <a:r>
              <a:rPr lang="en-US" dirty="0"/>
              <a:t> </a:t>
            </a:r>
            <a:r>
              <a:rPr lang="en-US" dirty="0" err="1"/>
              <a:t>Worflows</a:t>
            </a:r>
            <a:endParaRPr lang="nl-BE" dirty="0"/>
          </a:p>
        </p:txBody>
      </p:sp>
      <p:pic>
        <p:nvPicPr>
          <p:cNvPr id="18" name="Picture 17" descr="https://chanzuckerberg.com/wp-content/uploads/2021/08/ilastik-logo-alternate-colors-Anna-Kreshuk.png">
            <a:extLst>
              <a:ext uri="{FF2B5EF4-FFF2-40B4-BE49-F238E27FC236}">
                <a16:creationId xmlns:a16="http://schemas.microsoft.com/office/drawing/2014/main" id="{7CB4DF7B-7F93-CA0C-08B0-AB23FE7FB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6276" y="63894"/>
            <a:ext cx="769396" cy="11054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1523D4-1A25-1B6F-0B5F-9C0C347CA7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3951" b="26433"/>
          <a:stretch>
            <a:fillRect/>
          </a:stretch>
        </p:blipFill>
        <p:spPr>
          <a:xfrm>
            <a:off x="2716761" y="1169348"/>
            <a:ext cx="6702542" cy="5688651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5E66640-2EE3-16FD-4377-8855B3871D18}"/>
              </a:ext>
            </a:extLst>
          </p:cNvPr>
          <p:cNvCxnSpPr>
            <a:cxnSpLocks/>
          </p:cNvCxnSpPr>
          <p:nvPr/>
        </p:nvCxnSpPr>
        <p:spPr>
          <a:xfrm flipH="1">
            <a:off x="5352288" y="3011424"/>
            <a:ext cx="743712" cy="0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037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10C72-D3A9-7B77-8A72-C8ED83650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F976A9E-7DF0-5CBB-742A-1C3F8BBF1D1C}"/>
              </a:ext>
            </a:extLst>
          </p:cNvPr>
          <p:cNvSpPr txBox="1"/>
          <p:nvPr/>
        </p:nvSpPr>
        <p:spPr>
          <a:xfrm>
            <a:off x="7211833" y="2461113"/>
            <a:ext cx="44050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Supported image formats :</a:t>
            </a:r>
          </a:p>
          <a:p>
            <a:r>
              <a:rPr lang="en-US" dirty="0"/>
              <a:t>Block </a:t>
            </a:r>
            <a:r>
              <a:rPr lang="en-BE" dirty="0"/>
              <a:t> formats </a:t>
            </a:r>
            <a:r>
              <a:rPr lang="en-US" dirty="0"/>
              <a:t>:</a:t>
            </a:r>
            <a:endParaRPr lang="en-BE" dirty="0"/>
          </a:p>
          <a:p>
            <a:pPr marL="285750" indent="-285750">
              <a:buFontTx/>
              <a:buChar char="-"/>
            </a:pPr>
            <a:r>
              <a:rPr lang="nl-BE" dirty="0"/>
              <a:t>HDF5, </a:t>
            </a:r>
          </a:p>
          <a:p>
            <a:pPr marL="285750" indent="-285750">
              <a:buFontTx/>
              <a:buChar char="-"/>
            </a:pPr>
            <a:r>
              <a:rPr lang="en-BE" dirty="0"/>
              <a:t>Zarr</a:t>
            </a:r>
            <a:endParaRPr lang="en-US" dirty="0"/>
          </a:p>
          <a:p>
            <a:r>
              <a:rPr lang="en-US" dirty="0"/>
              <a:t>Generic</a:t>
            </a:r>
            <a:r>
              <a:rPr lang="en-BE" dirty="0"/>
              <a:t> formats</a:t>
            </a:r>
            <a:r>
              <a:rPr lang="en-US" dirty="0"/>
              <a:t> </a:t>
            </a:r>
            <a:r>
              <a:rPr lang="en-BE" dirty="0"/>
              <a:t>:</a:t>
            </a:r>
          </a:p>
          <a:p>
            <a:pPr marL="285750" indent="-285750">
              <a:buFontTx/>
              <a:buChar char="-"/>
            </a:pPr>
            <a:r>
              <a:rPr lang="en-BE" dirty="0"/>
              <a:t>TIF/TIFF</a:t>
            </a:r>
            <a:r>
              <a:rPr lang="en-US" dirty="0"/>
              <a:t> (2D and stack)</a:t>
            </a:r>
            <a:endParaRPr lang="en-BE" dirty="0"/>
          </a:p>
          <a:p>
            <a:pPr marL="285750" indent="-285750">
              <a:buFontTx/>
              <a:buChar char="-"/>
            </a:pPr>
            <a:r>
              <a:rPr lang="en-BE" dirty="0"/>
              <a:t>PNG</a:t>
            </a:r>
          </a:p>
          <a:p>
            <a:pPr marL="285750" indent="-285750">
              <a:buFontTx/>
              <a:buChar char="-"/>
            </a:pPr>
            <a:r>
              <a:rPr lang="en-BE" dirty="0"/>
              <a:t>GIF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2DFD2B-52AC-6DB6-E9C4-F918570B4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Pixel </a:t>
            </a:r>
            <a:r>
              <a:rPr lang="nl-BE" dirty="0" err="1"/>
              <a:t>Classifier</a:t>
            </a:r>
            <a:endParaRPr lang="nl-BE" dirty="0"/>
          </a:p>
        </p:txBody>
      </p:sp>
      <p:pic>
        <p:nvPicPr>
          <p:cNvPr id="18" name="Picture 17" descr="https://chanzuckerberg.com/wp-content/uploads/2021/08/ilastik-logo-alternate-colors-Anna-Kreshuk.png">
            <a:extLst>
              <a:ext uri="{FF2B5EF4-FFF2-40B4-BE49-F238E27FC236}">
                <a16:creationId xmlns:a16="http://schemas.microsoft.com/office/drawing/2014/main" id="{AB3EA5B7-BD24-450A-B0A6-361646676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6276" y="63894"/>
            <a:ext cx="769396" cy="110545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CCA89-E90A-0BF3-D02B-BD7C2DAA4574}"/>
              </a:ext>
            </a:extLst>
          </p:cNvPr>
          <p:cNvSpPr txBox="1">
            <a:spLocks/>
          </p:cNvSpPr>
          <p:nvPr/>
        </p:nvSpPr>
        <p:spPr>
          <a:xfrm>
            <a:off x="838200" y="1792288"/>
            <a:ext cx="9768840" cy="4700587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32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 baseline="0">
                <a:solidFill>
                  <a:srgbClr val="EA634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2400" kern="1200">
                <a:solidFill>
                  <a:srgbClr val="1B2944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1B2944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B2944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B2944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BE" dirty="0"/>
              <a:t>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D6C870-15AE-EE60-3C14-86DA159C0D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441" y="2438021"/>
            <a:ext cx="6087325" cy="4163006"/>
          </a:xfrm>
          <a:prstGeom prst="rect">
            <a:avLst/>
          </a:prstGeom>
        </p:spPr>
      </p:pic>
      <p:pic>
        <p:nvPicPr>
          <p:cNvPr id="6" name="Picture 4" descr="OME-and-Zarr-logos">
            <a:extLst>
              <a:ext uri="{FF2B5EF4-FFF2-40B4-BE49-F238E27FC236}">
                <a16:creationId xmlns:a16="http://schemas.microsoft.com/office/drawing/2014/main" id="{C8F1B011-AD99-1B41-BE2D-337CF97253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11"/>
          <a:stretch>
            <a:fillRect/>
          </a:stretch>
        </p:blipFill>
        <p:spPr bwMode="auto">
          <a:xfrm>
            <a:off x="8973958" y="2869357"/>
            <a:ext cx="1711149" cy="762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.H5 file extension.">
            <a:extLst>
              <a:ext uri="{FF2B5EF4-FFF2-40B4-BE49-F238E27FC236}">
                <a16:creationId xmlns:a16="http://schemas.microsoft.com/office/drawing/2014/main" id="{B957A3B3-48E9-ABE1-D0DF-8E2612CFD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5283" y="2869357"/>
            <a:ext cx="701573" cy="762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A845CA0-F039-77F5-03F9-0EF0CC58FF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191349"/>
            <a:ext cx="11122476" cy="586080"/>
          </a:xfrm>
        </p:spPr>
        <p:txBody>
          <a:bodyPr/>
          <a:lstStyle/>
          <a:p>
            <a:r>
              <a:rPr lang="nl-BE" dirty="0" err="1"/>
              <a:t>Loading</a:t>
            </a:r>
            <a:r>
              <a:rPr lang="nl-BE" dirty="0"/>
              <a:t> images</a:t>
            </a:r>
            <a:endParaRPr lang="en-B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093924-16E1-7AF9-DE18-A07C4D6C353D}"/>
              </a:ext>
            </a:extLst>
          </p:cNvPr>
          <p:cNvSpPr txBox="1"/>
          <p:nvPr/>
        </p:nvSpPr>
        <p:spPr>
          <a:xfrm>
            <a:off x="4090103" y="1191349"/>
            <a:ext cx="1002568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latin typeface="Consolas" panose="020B0609020204030204" pitchFamily="49" charset="0"/>
              </a:rPr>
              <a:t>Data&gt;00_2d_example&gt;</a:t>
            </a:r>
            <a:r>
              <a:rPr lang="en-US" sz="2600" b="1" dirty="0" err="1">
                <a:latin typeface="Consolas" panose="020B0609020204030204" pitchFamily="49" charset="0"/>
              </a:rPr>
              <a:t>nuclei_D_AlessioSilva.tif</a:t>
            </a:r>
            <a:endParaRPr lang="en-US" sz="2600" b="1" dirty="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C91BD3-B8D2-D039-7B47-C85DF5149C6E}"/>
              </a:ext>
            </a:extLst>
          </p:cNvPr>
          <p:cNvSpPr txBox="1"/>
          <p:nvPr/>
        </p:nvSpPr>
        <p:spPr>
          <a:xfrm>
            <a:off x="1724867" y="1870974"/>
            <a:ext cx="82935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BE" sz="2000" dirty="0"/>
              <a:t>Add training image as separate image</a:t>
            </a:r>
            <a:r>
              <a:rPr lang="en-US" sz="2000" dirty="0"/>
              <a:t>(s)</a:t>
            </a:r>
            <a:endParaRPr lang="en-BE" sz="2000" dirty="0"/>
          </a:p>
        </p:txBody>
      </p:sp>
    </p:spTree>
    <p:extLst>
      <p:ext uri="{BB962C8B-B14F-4D97-AF65-F5344CB8AC3E}">
        <p14:creationId xmlns:p14="http://schemas.microsoft.com/office/powerpoint/2010/main" val="3145025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FBF9E-A718-901B-136F-F72D819FB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ED40E-1535-1E5A-822A-5478D4139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Pixel </a:t>
            </a:r>
            <a:r>
              <a:rPr lang="nl-BE" dirty="0" err="1"/>
              <a:t>Classifier</a:t>
            </a:r>
            <a:endParaRPr lang="nl-BE" dirty="0"/>
          </a:p>
        </p:txBody>
      </p:sp>
      <p:pic>
        <p:nvPicPr>
          <p:cNvPr id="18" name="Picture 17" descr="https://chanzuckerberg.com/wp-content/uploads/2021/08/ilastik-logo-alternate-colors-Anna-Kreshuk.png">
            <a:extLst>
              <a:ext uri="{FF2B5EF4-FFF2-40B4-BE49-F238E27FC236}">
                <a16:creationId xmlns:a16="http://schemas.microsoft.com/office/drawing/2014/main" id="{FB133FE6-6113-6D87-7CCD-5AF553D2C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6276" y="63894"/>
            <a:ext cx="769396" cy="1105455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8CB646D-7DED-92FD-DBB7-49482BC6C58F}"/>
              </a:ext>
            </a:extLst>
          </p:cNvPr>
          <p:cNvSpPr txBox="1">
            <a:spLocks/>
          </p:cNvSpPr>
          <p:nvPr/>
        </p:nvSpPr>
        <p:spPr>
          <a:xfrm>
            <a:off x="1005344" y="1671708"/>
            <a:ext cx="10515600" cy="4700587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32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 baseline="0">
                <a:solidFill>
                  <a:srgbClr val="EA634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2400" kern="1200">
                <a:solidFill>
                  <a:srgbClr val="1B2944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1B2944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B2944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B2944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BE" sz="2000"/>
              <a:t>Features are the </a:t>
            </a:r>
            <a:r>
              <a:rPr lang="en-BE" sz="2000" b="1"/>
              <a:t>eyes</a:t>
            </a:r>
            <a:r>
              <a:rPr lang="en-BE" sz="2000"/>
              <a:t> of Ilastik:</a:t>
            </a:r>
          </a:p>
          <a:p>
            <a:pPr lvl="1"/>
            <a:r>
              <a:rPr lang="en-BE" sz="2000"/>
              <a:t>Color/intensity</a:t>
            </a:r>
          </a:p>
          <a:p>
            <a:pPr lvl="1"/>
            <a:r>
              <a:rPr lang="en-BE" sz="2000"/>
              <a:t>Edge  </a:t>
            </a:r>
          </a:p>
          <a:p>
            <a:pPr lvl="1"/>
            <a:r>
              <a:rPr lang="en-BE" sz="2000"/>
              <a:t>Texture/granularity</a:t>
            </a:r>
          </a:p>
          <a:p>
            <a:pPr lvl="1"/>
            <a:r>
              <a:rPr lang="en-BE" sz="2000"/>
              <a:t>Scale (sigma, 2D/3D)</a:t>
            </a:r>
          </a:p>
          <a:p>
            <a:r>
              <a:rPr lang="en-BE" sz="2000"/>
              <a:t>37 total features by default</a:t>
            </a:r>
            <a:endParaRPr lang="en-BE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81D532-6574-A49F-E85D-36CE54F217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970" y="4319252"/>
            <a:ext cx="10687082" cy="2458371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557FADC-16B1-0B99-C1C5-E108491A8A19}"/>
              </a:ext>
            </a:extLst>
          </p:cNvPr>
          <p:cNvCxnSpPr>
            <a:cxnSpLocks/>
          </p:cNvCxnSpPr>
          <p:nvPr/>
        </p:nvCxnSpPr>
        <p:spPr>
          <a:xfrm>
            <a:off x="10450468" y="4139509"/>
            <a:ext cx="964779" cy="1258402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5CF8BBE-3C46-DC8E-9530-ECCCAD93E370}"/>
              </a:ext>
            </a:extLst>
          </p:cNvPr>
          <p:cNvSpPr txBox="1"/>
          <p:nvPr/>
        </p:nvSpPr>
        <p:spPr>
          <a:xfrm>
            <a:off x="9147694" y="3801524"/>
            <a:ext cx="2644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BE" sz="1800" dirty="0"/>
              <a:t>adding larger </a:t>
            </a:r>
            <a:r>
              <a:rPr lang="el-GR" sz="1800" dirty="0"/>
              <a:t>σ</a:t>
            </a:r>
            <a:r>
              <a:rPr lang="en-BE" sz="1800" dirty="0"/>
              <a:t> i</a:t>
            </a:r>
            <a:r>
              <a:rPr lang="en-BE" dirty="0"/>
              <a:t>s possible</a:t>
            </a:r>
            <a:endParaRPr lang="en-US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43934F98-A178-2741-990A-BE54AD9480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191349"/>
            <a:ext cx="11122476" cy="586080"/>
          </a:xfrm>
        </p:spPr>
        <p:txBody>
          <a:bodyPr/>
          <a:lstStyle/>
          <a:p>
            <a:r>
              <a:rPr lang="en-US" dirty="0"/>
              <a:t>Feature Selection</a:t>
            </a:r>
          </a:p>
        </p:txBody>
      </p:sp>
    </p:spTree>
    <p:extLst>
      <p:ext uri="{BB962C8B-B14F-4D97-AF65-F5344CB8AC3E}">
        <p14:creationId xmlns:p14="http://schemas.microsoft.com/office/powerpoint/2010/main" val="2202731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541D2-1EF2-A37B-3690-7D47A48BD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E7885-C6C9-3923-9264-3F29C5EF2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Pixel </a:t>
            </a:r>
            <a:r>
              <a:rPr lang="nl-BE" dirty="0" err="1"/>
              <a:t>Classifier</a:t>
            </a:r>
            <a:endParaRPr lang="nl-BE" dirty="0"/>
          </a:p>
        </p:txBody>
      </p:sp>
      <p:pic>
        <p:nvPicPr>
          <p:cNvPr id="18" name="Picture 17" descr="https://chanzuckerberg.com/wp-content/uploads/2021/08/ilastik-logo-alternate-colors-Anna-Kreshuk.png">
            <a:extLst>
              <a:ext uri="{FF2B5EF4-FFF2-40B4-BE49-F238E27FC236}">
                <a16:creationId xmlns:a16="http://schemas.microsoft.com/office/drawing/2014/main" id="{AD70A329-C667-7FAD-5FEA-4E571CE9E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6276" y="63894"/>
            <a:ext cx="769396" cy="1105455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D9E21BC-0736-4D2C-66E7-10593C1C3A2F}"/>
              </a:ext>
            </a:extLst>
          </p:cNvPr>
          <p:cNvSpPr txBox="1">
            <a:spLocks/>
          </p:cNvSpPr>
          <p:nvPr/>
        </p:nvSpPr>
        <p:spPr>
          <a:xfrm>
            <a:off x="3709090" y="1758833"/>
            <a:ext cx="8406582" cy="1179649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32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 baseline="0">
                <a:solidFill>
                  <a:srgbClr val="EA634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2400" kern="1200">
                <a:solidFill>
                  <a:srgbClr val="1B2944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1B2944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B2944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B2944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BE" sz="2000" dirty="0">
                <a:solidFill>
                  <a:schemeClr val="tx1"/>
                </a:solidFill>
              </a:rPr>
              <a:t>If you have less that the sigma size number of </a:t>
            </a:r>
            <a:r>
              <a:rPr lang="en-US" sz="2000" dirty="0">
                <a:solidFill>
                  <a:schemeClr val="tx1"/>
                </a:solidFill>
              </a:rPr>
              <a:t>height/width </a:t>
            </a:r>
            <a:r>
              <a:rPr lang="en-BE" sz="2000" dirty="0">
                <a:solidFill>
                  <a:schemeClr val="tx1"/>
                </a:solidFill>
              </a:rPr>
              <a:t>pixels or </a:t>
            </a:r>
            <a:r>
              <a:rPr lang="en-US" sz="2000" dirty="0">
                <a:solidFill>
                  <a:schemeClr val="tx1"/>
                </a:solidFill>
              </a:rPr>
              <a:t>Z </a:t>
            </a:r>
            <a:r>
              <a:rPr lang="en-BE" sz="2000" dirty="0">
                <a:solidFill>
                  <a:schemeClr val="tx1"/>
                </a:solidFill>
              </a:rPr>
              <a:t>slices</a:t>
            </a:r>
            <a:r>
              <a:rPr lang="en-US" sz="2000" dirty="0">
                <a:solidFill>
                  <a:schemeClr val="tx1"/>
                </a:solidFill>
              </a:rPr>
              <a:t>,</a:t>
            </a:r>
          </a:p>
          <a:p>
            <a:r>
              <a:rPr lang="en-BE" sz="2000" dirty="0">
                <a:solidFill>
                  <a:schemeClr val="tx1"/>
                </a:solidFill>
              </a:rPr>
              <a:t>it will give you an error that gets solved by ticking off the sigma that is too large for your data.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1A1006-8FE2-1829-8ACF-0C991898BF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9438" y="3429000"/>
            <a:ext cx="5725885" cy="25328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B07575-492F-7787-A799-C035C60790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49570" y="896342"/>
            <a:ext cx="4876800" cy="4876800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46933AF-5FE8-1410-BA4C-71D175409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191349"/>
            <a:ext cx="11122476" cy="586080"/>
          </a:xfrm>
        </p:spPr>
        <p:txBody>
          <a:bodyPr/>
          <a:lstStyle/>
          <a:p>
            <a:r>
              <a:rPr lang="en-US" dirty="0"/>
              <a:t>Feature Selection</a:t>
            </a:r>
          </a:p>
        </p:txBody>
      </p:sp>
    </p:spTree>
    <p:extLst>
      <p:ext uri="{BB962C8B-B14F-4D97-AF65-F5344CB8AC3E}">
        <p14:creationId xmlns:p14="http://schemas.microsoft.com/office/powerpoint/2010/main" val="2213703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7182E-5424-1ECD-D127-973E73D98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FAF91-E1ED-4F98-F290-1B9282D41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Pixel </a:t>
            </a:r>
            <a:r>
              <a:rPr lang="nl-BE" dirty="0" err="1"/>
              <a:t>Classifier</a:t>
            </a:r>
            <a:endParaRPr lang="nl-BE" dirty="0"/>
          </a:p>
        </p:txBody>
      </p:sp>
      <p:pic>
        <p:nvPicPr>
          <p:cNvPr id="18" name="Picture 17" descr="https://chanzuckerberg.com/wp-content/uploads/2021/08/ilastik-logo-alternate-colors-Anna-Kreshuk.png">
            <a:extLst>
              <a:ext uri="{FF2B5EF4-FFF2-40B4-BE49-F238E27FC236}">
                <a16:creationId xmlns:a16="http://schemas.microsoft.com/office/drawing/2014/main" id="{A46D7A76-52C1-1509-91F5-DB230865F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6276" y="63894"/>
            <a:ext cx="769396" cy="110545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13AB9-8B32-CBDB-0E92-BCBF5990064C}"/>
              </a:ext>
            </a:extLst>
          </p:cNvPr>
          <p:cNvSpPr txBox="1">
            <a:spLocks/>
          </p:cNvSpPr>
          <p:nvPr/>
        </p:nvSpPr>
        <p:spPr>
          <a:xfrm>
            <a:off x="641555" y="1470581"/>
            <a:ext cx="10386060" cy="4181581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32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 baseline="0">
                <a:solidFill>
                  <a:srgbClr val="EA634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2400" kern="1200">
                <a:solidFill>
                  <a:srgbClr val="1B2944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1B2944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B2944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B2944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D79F4D-0871-076C-6277-04BEF759E5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7750" y="3161706"/>
            <a:ext cx="2911845" cy="35600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805C66-CE94-B226-2479-3DA8DFECE68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959" r="31286"/>
          <a:stretch>
            <a:fillRect/>
          </a:stretch>
        </p:blipFill>
        <p:spPr>
          <a:xfrm>
            <a:off x="4665023" y="3161706"/>
            <a:ext cx="2109647" cy="3527999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80FC0890-4393-7759-27A7-218F1711F105}"/>
              </a:ext>
            </a:extLst>
          </p:cNvPr>
          <p:cNvGrpSpPr>
            <a:grpSpLocks noChangeAspect="1"/>
          </p:cNvGrpSpPr>
          <p:nvPr/>
        </p:nvGrpSpPr>
        <p:grpSpPr>
          <a:xfrm>
            <a:off x="6920098" y="3161706"/>
            <a:ext cx="3627182" cy="3527999"/>
            <a:chOff x="6613446" y="908178"/>
            <a:chExt cx="3660150" cy="356006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E17C191-8CA9-9492-429C-35C4B8895C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0975" r="31301"/>
            <a:stretch>
              <a:fillRect/>
            </a:stretch>
          </p:blipFill>
          <p:spPr>
            <a:xfrm>
              <a:off x="6613446" y="908178"/>
              <a:ext cx="1348740" cy="225412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9001746-C927-FCF8-A1F7-5D42186F682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0975" r="31301"/>
            <a:stretch>
              <a:fillRect/>
            </a:stretch>
          </p:blipFill>
          <p:spPr>
            <a:xfrm>
              <a:off x="7769151" y="1561683"/>
              <a:ext cx="1348740" cy="22559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C1F2B3C-4CB5-AFCB-F7ED-3EC4ED31451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0975" r="31301"/>
            <a:stretch>
              <a:fillRect/>
            </a:stretch>
          </p:blipFill>
          <p:spPr>
            <a:xfrm>
              <a:off x="8924856" y="2217018"/>
              <a:ext cx="1348740" cy="2251225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1BF87D1-A67D-3606-0929-7DB90610409F}"/>
              </a:ext>
            </a:extLst>
          </p:cNvPr>
          <p:cNvSpPr txBox="1"/>
          <p:nvPr/>
        </p:nvSpPr>
        <p:spPr>
          <a:xfrm>
            <a:off x="6920098" y="2792374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Features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10FE82-A9EF-6742-3A1D-727574AF9F2E}"/>
              </a:ext>
            </a:extLst>
          </p:cNvPr>
          <p:cNvSpPr txBox="1"/>
          <p:nvPr/>
        </p:nvSpPr>
        <p:spPr>
          <a:xfrm>
            <a:off x="4665023" y="2792374"/>
            <a:ext cx="1455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Raw </a:t>
            </a:r>
            <a:r>
              <a:rPr lang="en-BE" dirty="0" err="1"/>
              <a:t>itensity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AFE720-F7B7-8B6B-3579-F747152BF683}"/>
              </a:ext>
            </a:extLst>
          </p:cNvPr>
          <p:cNvSpPr txBox="1"/>
          <p:nvPr/>
        </p:nvSpPr>
        <p:spPr>
          <a:xfrm>
            <a:off x="9401985" y="3258428"/>
            <a:ext cx="21985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 err="1"/>
              <a:t>Ilastik</a:t>
            </a:r>
            <a:r>
              <a:rPr lang="en-BE" dirty="0"/>
              <a:t> does not take calibration into account.</a:t>
            </a:r>
          </a:p>
          <a:p>
            <a:r>
              <a:rPr lang="en-BE" dirty="0"/>
              <a:t>Be careful in 3D. 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FDAC2EB-83C4-19F4-9CAA-9F36D47FB0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191349"/>
            <a:ext cx="11122476" cy="586080"/>
          </a:xfrm>
        </p:spPr>
        <p:txBody>
          <a:bodyPr/>
          <a:lstStyle/>
          <a:p>
            <a:r>
              <a:rPr lang="en-US" dirty="0"/>
              <a:t>Feature Selection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7C3817-C5FF-CC18-4F48-C120C5C856A4}"/>
              </a:ext>
            </a:extLst>
          </p:cNvPr>
          <p:cNvSpPr txBox="1"/>
          <p:nvPr/>
        </p:nvSpPr>
        <p:spPr>
          <a:xfrm>
            <a:off x="705949" y="1873084"/>
            <a:ext cx="73299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F</a:t>
            </a:r>
            <a:r>
              <a:rPr lang="en-BE" sz="2000" dirty="0" err="1"/>
              <a:t>eatures</a:t>
            </a:r>
            <a:r>
              <a:rPr lang="en-BE" sz="2000" dirty="0"/>
              <a:t> along with their </a:t>
            </a:r>
            <a:r>
              <a:rPr lang="el-GR" sz="2000" dirty="0"/>
              <a:t>σ</a:t>
            </a:r>
            <a:r>
              <a:rPr lang="en-BE" sz="2000" dirty="0"/>
              <a:t> are located in the bottom left</a:t>
            </a:r>
            <a:r>
              <a:rPr lang="en-US" sz="2000" dirty="0"/>
              <a:t>.</a:t>
            </a:r>
          </a:p>
          <a:p>
            <a:r>
              <a:rPr lang="en-US" sz="2000" dirty="0"/>
              <a:t>Click on them to visualize the effect of the filter</a:t>
            </a:r>
          </a:p>
        </p:txBody>
      </p:sp>
    </p:spTree>
    <p:extLst>
      <p:ext uri="{BB962C8B-B14F-4D97-AF65-F5344CB8AC3E}">
        <p14:creationId xmlns:p14="http://schemas.microsoft.com/office/powerpoint/2010/main" val="1566751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1A7C5F-A3B6-4118-AFB0-0F9EE7CA7AE7}"/>
              </a:ext>
            </a:extLst>
          </p:cNvPr>
          <p:cNvSpPr/>
          <p:nvPr/>
        </p:nvSpPr>
        <p:spPr>
          <a:xfrm>
            <a:off x="9884229" y="6033389"/>
            <a:ext cx="2076447" cy="6608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AD17BF-B47E-447D-BF46-FA7175EB76F5}"/>
              </a:ext>
            </a:extLst>
          </p:cNvPr>
          <p:cNvSpPr/>
          <p:nvPr/>
        </p:nvSpPr>
        <p:spPr>
          <a:xfrm>
            <a:off x="231324" y="6052456"/>
            <a:ext cx="1249133" cy="6608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Pixel Classifier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838200" y="1191349"/>
            <a:ext cx="11122476" cy="586080"/>
          </a:xfrm>
        </p:spPr>
        <p:txBody>
          <a:bodyPr/>
          <a:lstStyle/>
          <a:p>
            <a:r>
              <a:rPr lang="en-US" b="1" dirty="0">
                <a:latin typeface="+mj-lt"/>
              </a:rPr>
              <a:t>The </a:t>
            </a:r>
            <a:r>
              <a:rPr lang="en-US" b="1" dirty="0" err="1">
                <a:latin typeface="+mj-lt"/>
              </a:rPr>
              <a:t>Ilastik</a:t>
            </a:r>
            <a:r>
              <a:rPr lang="en-US" b="1" dirty="0">
                <a:latin typeface="+mj-lt"/>
              </a:rPr>
              <a:t> viewer</a:t>
            </a:r>
          </a:p>
        </p:txBody>
      </p:sp>
      <p:pic>
        <p:nvPicPr>
          <p:cNvPr id="15" name="Picture 14" descr="https://chanzuckerberg.com/wp-content/uploads/2021/08/ilastik-logo-alternate-colors-Anna-Kreshuk.png">
            <a:extLst>
              <a:ext uri="{FF2B5EF4-FFF2-40B4-BE49-F238E27FC236}">
                <a16:creationId xmlns:a16="http://schemas.microsoft.com/office/drawing/2014/main" id="{CA1ED4B1-BFD9-ED19-DB19-FE83FD70F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6276" y="63894"/>
            <a:ext cx="769396" cy="110545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7495A08-1460-12EB-A1AC-732AD97B3F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041" y="2341038"/>
            <a:ext cx="6572481" cy="39476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3889A42-0940-39D3-D839-919AA4BFF635}"/>
              </a:ext>
            </a:extLst>
          </p:cNvPr>
          <p:cNvSpPr txBox="1"/>
          <p:nvPr/>
        </p:nvSpPr>
        <p:spPr>
          <a:xfrm>
            <a:off x="7259136" y="2341038"/>
            <a:ext cx="1935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Useful shortcuts: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873EB344-29B7-ADED-3F2E-45E26578AC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142212"/>
              </p:ext>
            </p:extLst>
          </p:nvPr>
        </p:nvGraphicFramePr>
        <p:xfrm>
          <a:off x="7259136" y="2710370"/>
          <a:ext cx="470154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0770">
                  <a:extLst>
                    <a:ext uri="{9D8B030D-6E8A-4147-A177-3AD203B41FA5}">
                      <a16:colId xmlns:a16="http://schemas.microsoft.com/office/drawing/2014/main" val="3056169104"/>
                    </a:ext>
                  </a:extLst>
                </a:gridCol>
                <a:gridCol w="2350770">
                  <a:extLst>
                    <a:ext uri="{9D8B030D-6E8A-4147-A177-3AD203B41FA5}">
                      <a16:colId xmlns:a16="http://schemas.microsoft.com/office/drawing/2014/main" val="12417112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BE" dirty="0"/>
                        <a:t>Shortcut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E" dirty="0"/>
                        <a:t>Function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928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BE" dirty="0"/>
                        <a:t>Ctrl + mouse wheel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E" dirty="0"/>
                        <a:t>Zoom in and out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179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BE" dirty="0"/>
                        <a:t>Shift + left click drag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E" dirty="0"/>
                        <a:t>Move in XY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8790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BE" dirty="0"/>
                        <a:t>Mouse wheel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E" dirty="0"/>
                        <a:t>Move in Z or in 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7305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7910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143A6-5222-0ABE-0847-BBA49D92F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C84455-C72C-3A47-8F0D-9E79CA09A859}"/>
              </a:ext>
            </a:extLst>
          </p:cNvPr>
          <p:cNvSpPr/>
          <p:nvPr/>
        </p:nvSpPr>
        <p:spPr>
          <a:xfrm>
            <a:off x="9851885" y="6052456"/>
            <a:ext cx="2076447" cy="6608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03036E-EF69-F255-720A-44459DCF1A4A}"/>
              </a:ext>
            </a:extLst>
          </p:cNvPr>
          <p:cNvSpPr/>
          <p:nvPr/>
        </p:nvSpPr>
        <p:spPr>
          <a:xfrm>
            <a:off x="231324" y="6052456"/>
            <a:ext cx="1249133" cy="6608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E0A8DE-AF76-7A5B-5BFE-ED481E6B4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Pixel Classifier</a:t>
            </a:r>
          </a:p>
        </p:txBody>
      </p:sp>
      <p:pic>
        <p:nvPicPr>
          <p:cNvPr id="15" name="Picture 14" descr="https://chanzuckerberg.com/wp-content/uploads/2021/08/ilastik-logo-alternate-colors-Anna-Kreshuk.png">
            <a:extLst>
              <a:ext uri="{FF2B5EF4-FFF2-40B4-BE49-F238E27FC236}">
                <a16:creationId xmlns:a16="http://schemas.microsoft.com/office/drawing/2014/main" id="{0660D689-6026-CC74-6244-A1E078C66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6276" y="63894"/>
            <a:ext cx="769396" cy="1105455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F83608A-0D39-FFD4-52F0-2D6FC36A73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/>
              <a:t>Training</a:t>
            </a:r>
          </a:p>
          <a:p>
            <a:endParaRPr lang="nl-BE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A1E2D1B-B2AC-FAA0-7908-FA40ADE142E1}"/>
              </a:ext>
            </a:extLst>
          </p:cNvPr>
          <p:cNvGrpSpPr/>
          <p:nvPr/>
        </p:nvGrpSpPr>
        <p:grpSpPr>
          <a:xfrm>
            <a:off x="8832130" y="4762571"/>
            <a:ext cx="3251198" cy="1950740"/>
            <a:chOff x="9049317" y="1799429"/>
            <a:chExt cx="3251198" cy="195074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924A3CB-666C-83AA-40C8-909ECA68EC07}"/>
                </a:ext>
              </a:extLst>
            </p:cNvPr>
            <p:cNvGrpSpPr/>
            <p:nvPr/>
          </p:nvGrpSpPr>
          <p:grpSpPr>
            <a:xfrm>
              <a:off x="9049317" y="2176781"/>
              <a:ext cx="3251198" cy="1573388"/>
              <a:chOff x="9422943" y="1689747"/>
              <a:chExt cx="3251198" cy="1573388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689D560E-55FF-CAFC-1A80-ACE400B942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3687" t="67272" b="14423"/>
              <a:stretch>
                <a:fillRect/>
              </a:stretch>
            </p:blipFill>
            <p:spPr>
              <a:xfrm>
                <a:off x="9534287" y="1907079"/>
                <a:ext cx="2518842" cy="1356056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E62F190-3540-2C5A-D5B7-BC51BAC6D6D7}"/>
                  </a:ext>
                </a:extLst>
              </p:cNvPr>
              <p:cNvSpPr txBox="1"/>
              <p:nvPr/>
            </p:nvSpPr>
            <p:spPr>
              <a:xfrm>
                <a:off x="9422943" y="2454005"/>
                <a:ext cx="12570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E" dirty="0"/>
                  <a:t>navigation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D041AED-44CB-DB42-6C70-BB311DC99CE5}"/>
                  </a:ext>
                </a:extLst>
              </p:cNvPr>
              <p:cNvSpPr txBox="1"/>
              <p:nvPr/>
            </p:nvSpPr>
            <p:spPr>
              <a:xfrm>
                <a:off x="10149550" y="1689747"/>
                <a:ext cx="7489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E" dirty="0"/>
                  <a:t>brush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E1DE88E-DECD-2B6B-D635-7AED094A9923}"/>
                  </a:ext>
                </a:extLst>
              </p:cNvPr>
              <p:cNvSpPr txBox="1"/>
              <p:nvPr/>
            </p:nvSpPr>
            <p:spPr>
              <a:xfrm>
                <a:off x="10663229" y="2419149"/>
                <a:ext cx="8290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E" dirty="0"/>
                  <a:t>eraser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5AD2EF7-6DFE-4432-CF1D-AE0A56BE4D06}"/>
                  </a:ext>
                </a:extLst>
              </p:cNvPr>
              <p:cNvSpPr txBox="1"/>
              <p:nvPr/>
            </p:nvSpPr>
            <p:spPr>
              <a:xfrm>
                <a:off x="11312922" y="1689747"/>
                <a:ext cx="6158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E" dirty="0"/>
                  <a:t>B&amp;C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C989F67-7799-2322-24C0-FFE1A80715DE}"/>
                  </a:ext>
                </a:extLst>
              </p:cNvPr>
              <p:cNvSpPr txBox="1"/>
              <p:nvPr/>
            </p:nvSpPr>
            <p:spPr>
              <a:xfrm>
                <a:off x="11460347" y="2697179"/>
                <a:ext cx="1213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E" dirty="0"/>
                  <a:t>Brush size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376BB91-3803-D968-887A-C26623B01CD6}"/>
                </a:ext>
              </a:extLst>
            </p:cNvPr>
            <p:cNvSpPr txBox="1"/>
            <p:nvPr/>
          </p:nvSpPr>
          <p:spPr>
            <a:xfrm>
              <a:off x="9160661" y="1799429"/>
              <a:ext cx="7223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E" b="1" dirty="0"/>
                <a:t>Tools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E2203B0-83CE-ACCE-6430-84A047B61346}"/>
              </a:ext>
            </a:extLst>
          </p:cNvPr>
          <p:cNvSpPr txBox="1"/>
          <p:nvPr/>
        </p:nvSpPr>
        <p:spPr>
          <a:xfrm>
            <a:off x="8849829" y="1355334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b="1" dirty="0"/>
              <a:t>Classes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EE17DE-62FA-75C1-7E50-CC2F14F143B3}"/>
              </a:ext>
            </a:extLst>
          </p:cNvPr>
          <p:cNvSpPr txBox="1"/>
          <p:nvPr/>
        </p:nvSpPr>
        <p:spPr>
          <a:xfrm>
            <a:off x="8871443" y="405668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BE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E725E78-F80E-3EDC-833A-5B410692F5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427" y="1830776"/>
            <a:ext cx="6968482" cy="5027224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AD061358-902E-64FE-4F35-390FD0918000}"/>
              </a:ext>
            </a:extLst>
          </p:cNvPr>
          <p:cNvSpPr/>
          <p:nvPr/>
        </p:nvSpPr>
        <p:spPr>
          <a:xfrm>
            <a:off x="8996680" y="2666547"/>
            <a:ext cx="2357120" cy="4070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499EE83-BA49-CC18-F538-E4D8839352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4650" y="1742863"/>
            <a:ext cx="2357119" cy="2832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279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F82B9-105C-F3F9-4F78-B572CE201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10221A8-A015-E68F-E624-15CA7F2BDA1B}"/>
              </a:ext>
            </a:extLst>
          </p:cNvPr>
          <p:cNvSpPr/>
          <p:nvPr/>
        </p:nvSpPr>
        <p:spPr>
          <a:xfrm>
            <a:off x="231324" y="6052456"/>
            <a:ext cx="1249133" cy="6608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D3BF4C-9F4F-7629-8ACA-976D2D27D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Pixel Classifier</a:t>
            </a:r>
          </a:p>
        </p:txBody>
      </p:sp>
      <p:pic>
        <p:nvPicPr>
          <p:cNvPr id="15" name="Picture 14" descr="https://chanzuckerberg.com/wp-content/uploads/2021/08/ilastik-logo-alternate-colors-Anna-Kreshuk.png">
            <a:extLst>
              <a:ext uri="{FF2B5EF4-FFF2-40B4-BE49-F238E27FC236}">
                <a16:creationId xmlns:a16="http://schemas.microsoft.com/office/drawing/2014/main" id="{245CF7EC-7920-A3BD-4754-A22FE1533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6276" y="63894"/>
            <a:ext cx="769396" cy="1105455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331E22D-D389-A2FB-A612-8B3258FA6A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/>
              <a:t>Training Layers</a:t>
            </a:r>
          </a:p>
          <a:p>
            <a:endParaRPr lang="nl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627678-78D3-5407-AFD5-37CA7A2FBC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2793" y="1777429"/>
            <a:ext cx="2397685" cy="34401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4D7B8A-8F92-EAEA-7AF2-163731D1BD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3049" y="1799429"/>
            <a:ext cx="2451784" cy="34833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5585472-8044-6ABE-BEB3-BECE97677E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983" y="1775736"/>
            <a:ext cx="2141365" cy="344354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F9707B0-FA15-2E3A-5348-823B82512636}"/>
              </a:ext>
            </a:extLst>
          </p:cNvPr>
          <p:cNvSpPr txBox="1"/>
          <p:nvPr/>
        </p:nvSpPr>
        <p:spPr>
          <a:xfrm>
            <a:off x="1222598" y="1799429"/>
            <a:ext cx="128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b="1" dirty="0">
                <a:solidFill>
                  <a:schemeClr val="bg1"/>
                </a:solidFill>
              </a:rPr>
              <a:t>Probability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911116-2390-A8E4-4620-EBA83AFE5499}"/>
              </a:ext>
            </a:extLst>
          </p:cNvPr>
          <p:cNvSpPr txBox="1"/>
          <p:nvPr/>
        </p:nvSpPr>
        <p:spPr>
          <a:xfrm>
            <a:off x="4965983" y="1801123"/>
            <a:ext cx="1661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b="1" dirty="0"/>
              <a:t>Segmentation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2CC57F-DEEC-BEE5-CA15-AE84D8458090}"/>
              </a:ext>
            </a:extLst>
          </p:cNvPr>
          <p:cNvSpPr txBox="1"/>
          <p:nvPr/>
        </p:nvSpPr>
        <p:spPr>
          <a:xfrm>
            <a:off x="8467951" y="1830776"/>
            <a:ext cx="1463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b="1" dirty="0">
                <a:solidFill>
                  <a:schemeClr val="bg1"/>
                </a:solidFill>
              </a:rPr>
              <a:t>Uncertainty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645623C0-C00B-F0CE-2088-11E2625145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991" y="5341200"/>
            <a:ext cx="3285322" cy="1422511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EBBF5AC-9B24-A937-63DD-ED56862F73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9907" y="5290800"/>
            <a:ext cx="3183714" cy="142251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7425712-7FF1-22E8-FB62-ABFC840571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73215" y="5304758"/>
            <a:ext cx="3251452" cy="49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857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D57A6-2401-8448-597D-D0DA1DD47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90540BC-B6FF-409A-982F-87CC5E3306BE}"/>
              </a:ext>
            </a:extLst>
          </p:cNvPr>
          <p:cNvSpPr/>
          <p:nvPr/>
        </p:nvSpPr>
        <p:spPr>
          <a:xfrm>
            <a:off x="231324" y="6052456"/>
            <a:ext cx="1249133" cy="6608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2DD465-4843-0444-021B-3012EB57D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Pixel Classifier</a:t>
            </a:r>
          </a:p>
        </p:txBody>
      </p:sp>
      <p:pic>
        <p:nvPicPr>
          <p:cNvPr id="15" name="Picture 14" descr="https://chanzuckerberg.com/wp-content/uploads/2021/08/ilastik-logo-alternate-colors-Anna-Kreshuk.png">
            <a:extLst>
              <a:ext uri="{FF2B5EF4-FFF2-40B4-BE49-F238E27FC236}">
                <a16:creationId xmlns:a16="http://schemas.microsoft.com/office/drawing/2014/main" id="{95FC9CBA-B863-05D5-03EA-4EA1EB4EE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6276" y="63894"/>
            <a:ext cx="769396" cy="1105455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F2AF7D-99B1-9D28-C080-501D5D68E1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/>
              <a:t>Prediction Export</a:t>
            </a:r>
          </a:p>
          <a:p>
            <a:endParaRPr lang="nl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E269FC-D1C7-212F-D7E4-45443267EE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736"/>
          <a:stretch>
            <a:fillRect/>
          </a:stretch>
        </p:blipFill>
        <p:spPr>
          <a:xfrm>
            <a:off x="7132943" y="2622150"/>
            <a:ext cx="4827733" cy="27477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6F58EC-B65C-E87C-0439-066103191446}"/>
              </a:ext>
            </a:extLst>
          </p:cNvPr>
          <p:cNvSpPr txBox="1"/>
          <p:nvPr/>
        </p:nvSpPr>
        <p:spPr>
          <a:xfrm>
            <a:off x="231324" y="2135566"/>
            <a:ext cx="672489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Multiple Type </a:t>
            </a:r>
            <a:r>
              <a:rPr lang="en-BE" b="1" dirty="0"/>
              <a:t>:</a:t>
            </a:r>
            <a:endParaRPr lang="en-US" b="1" dirty="0"/>
          </a:p>
          <a:p>
            <a:pPr marL="285750" indent="-285750">
              <a:buFontTx/>
              <a:buChar char="-"/>
            </a:pPr>
            <a:r>
              <a:rPr lang="en-BE" dirty="0"/>
              <a:t>Probabilities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BE" dirty="0"/>
              <a:t>Simple Segmentation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BE" dirty="0"/>
              <a:t>Uncertainty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BE" dirty="0"/>
              <a:t>Features and Labels</a:t>
            </a:r>
            <a:endParaRPr lang="en-US" dirty="0"/>
          </a:p>
          <a:p>
            <a:endParaRPr lang="en-BE" dirty="0"/>
          </a:p>
          <a:p>
            <a:r>
              <a:rPr lang="en-BE" b="1" dirty="0"/>
              <a:t>Probabilities </a:t>
            </a:r>
            <a:r>
              <a:rPr lang="en-US" b="1" dirty="0"/>
              <a:t>vs</a:t>
            </a:r>
            <a:r>
              <a:rPr lang="en-BE" b="1" dirty="0"/>
              <a:t> segmentation</a:t>
            </a:r>
            <a:r>
              <a:rPr lang="en-US" b="1" dirty="0"/>
              <a:t> </a:t>
            </a:r>
            <a:r>
              <a:rPr lang="en-BE" b="1" dirty="0"/>
              <a:t>:</a:t>
            </a:r>
            <a:endParaRPr lang="en-US" b="1" dirty="0"/>
          </a:p>
          <a:p>
            <a:r>
              <a:rPr lang="en-BE" dirty="0"/>
              <a:t>I</a:t>
            </a:r>
            <a:r>
              <a:rPr lang="en-US" dirty="0" err="1"/>
              <a:t>lastik</a:t>
            </a:r>
            <a:r>
              <a:rPr lang="en-US" dirty="0"/>
              <a:t> outputs a </a:t>
            </a:r>
            <a:r>
              <a:rPr lang="en-US" b="1" dirty="0"/>
              <a:t>Probability Map</a:t>
            </a:r>
            <a:r>
              <a:rPr lang="en-BE" b="1" dirty="0"/>
              <a:t> -&gt; </a:t>
            </a:r>
            <a:r>
              <a:rPr lang="en-US" dirty="0"/>
              <a:t>For each pixel, output a value between 0 and </a:t>
            </a:r>
            <a:r>
              <a:rPr lang="en-BE" dirty="0"/>
              <a:t>1</a:t>
            </a:r>
            <a:r>
              <a:rPr lang="en-US" dirty="0"/>
              <a:t> representing the probability to be part of  class</a:t>
            </a:r>
            <a:endParaRPr lang="en-BE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BE" dirty="0"/>
              <a:t>For example: </a:t>
            </a:r>
            <a:r>
              <a:rPr lang="en-US" dirty="0"/>
              <a:t>a pixel might be </a:t>
            </a:r>
            <a:r>
              <a:rPr lang="en-BE" dirty="0"/>
              <a:t>0.</a:t>
            </a:r>
            <a:r>
              <a:rPr lang="en-US" dirty="0"/>
              <a:t>85 </a:t>
            </a:r>
            <a:r>
              <a:rPr lang="en-US" i="1" dirty="0"/>
              <a:t>Nucleus</a:t>
            </a:r>
            <a:r>
              <a:rPr lang="en-US" dirty="0"/>
              <a:t>,   </a:t>
            </a:r>
            <a:r>
              <a:rPr lang="en-BE" dirty="0"/>
              <a:t>0.03 </a:t>
            </a:r>
            <a:r>
              <a:rPr lang="en-US" i="1" dirty="0"/>
              <a:t>Background</a:t>
            </a:r>
            <a:r>
              <a:rPr lang="en-US" dirty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BE" dirty="0"/>
          </a:p>
          <a:p>
            <a:r>
              <a:rPr lang="en-BE" dirty="0"/>
              <a:t>To get a segmentation, </a:t>
            </a:r>
            <a:r>
              <a:rPr lang="en-BE" dirty="0" err="1"/>
              <a:t>Ilastik</a:t>
            </a:r>
            <a:r>
              <a:rPr lang="en-BE" dirty="0"/>
              <a:t> applies a </a:t>
            </a:r>
            <a:r>
              <a:rPr lang="en-BE" b="1" dirty="0"/>
              <a:t>threshold</a:t>
            </a:r>
            <a:r>
              <a:rPr lang="en-BE" dirty="0"/>
              <a:t> to the probability map (</a:t>
            </a:r>
            <a:r>
              <a:rPr lang="en-BE" dirty="0" err="1"/>
              <a:t>eg</a:t>
            </a:r>
            <a:r>
              <a:rPr lang="en-BE" dirty="0"/>
              <a:t> 0.4)</a:t>
            </a:r>
            <a:endParaRPr lang="en-US" dirty="0"/>
          </a:p>
          <a:p>
            <a:endParaRPr lang="en-BE" dirty="0"/>
          </a:p>
          <a:p>
            <a:r>
              <a:rPr lang="en-BE" dirty="0"/>
              <a:t>Click “</a:t>
            </a:r>
            <a:r>
              <a:rPr lang="en-BE" b="1" i="1" dirty="0"/>
              <a:t>Export All</a:t>
            </a:r>
            <a:r>
              <a:rPr lang="en-BE" dirty="0"/>
              <a:t>” to apply the classifier to all the training data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8059775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05BB5-49DE-FABF-6B9F-241182B9B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AEDCC-F1D2-5AE2-C74E-14EBF6F11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Exercice</a:t>
            </a:r>
            <a:r>
              <a:rPr lang="en-US" dirty="0"/>
              <a:t> : Pixel Classifier of a 3D dataset</a:t>
            </a:r>
          </a:p>
        </p:txBody>
      </p:sp>
      <p:pic>
        <p:nvPicPr>
          <p:cNvPr id="15" name="Picture 14" descr="https://chanzuckerberg.com/wp-content/uploads/2021/08/ilastik-logo-alternate-colors-Anna-Kreshuk.png">
            <a:extLst>
              <a:ext uri="{FF2B5EF4-FFF2-40B4-BE49-F238E27FC236}">
                <a16:creationId xmlns:a16="http://schemas.microsoft.com/office/drawing/2014/main" id="{13CF9794-20FC-756E-924E-3F5CB0AFF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6276" y="63894"/>
            <a:ext cx="769396" cy="11054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D7B52E-77AF-62BC-CD31-5191573B14D4}"/>
              </a:ext>
            </a:extLst>
          </p:cNvPr>
          <p:cNvSpPr txBox="1"/>
          <p:nvPr/>
        </p:nvSpPr>
        <p:spPr>
          <a:xfrm>
            <a:off x="1732153" y="1260178"/>
            <a:ext cx="1002568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latin typeface="Consolas" panose="020B0609020204030204" pitchFamily="49" charset="0"/>
              </a:rPr>
              <a:t>Data&gt;00_2d_example&gt;</a:t>
            </a:r>
            <a:r>
              <a:rPr lang="en-US" sz="2600" b="1" dirty="0" err="1">
                <a:latin typeface="Consolas" panose="020B0609020204030204" pitchFamily="49" charset="0"/>
              </a:rPr>
              <a:t>nuclei_D_AlessioSilva.tif</a:t>
            </a:r>
            <a:endParaRPr lang="en-US" sz="2600" b="1" dirty="0">
              <a:latin typeface="Consolas" panose="020B0609020204030204" pitchFamily="49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91A8796-B4D8-4C45-6479-7F02F88A9D0B}"/>
              </a:ext>
            </a:extLst>
          </p:cNvPr>
          <p:cNvSpPr txBox="1">
            <a:spLocks/>
          </p:cNvSpPr>
          <p:nvPr/>
        </p:nvSpPr>
        <p:spPr>
          <a:xfrm>
            <a:off x="792000" y="602673"/>
            <a:ext cx="10608000" cy="715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B2944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endParaRPr lang="en-US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B47E4F-839A-8628-48A9-3289BE7840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3111" y="2019838"/>
            <a:ext cx="4577208" cy="4577208"/>
          </a:xfrm>
          <a:prstGeom prst="rect">
            <a:avLst/>
          </a:prstGeom>
        </p:spPr>
      </p:pic>
      <p:pic>
        <p:nvPicPr>
          <p:cNvPr id="7" name="Picture 2" descr="Very proud of Alessio Silva successfully defending his PhD thesis last week  🎉 He did a fantastic job on the evening itself and throughout his whole  PhD. Excited to see what the">
            <a:extLst>
              <a:ext uri="{FF2B5EF4-FFF2-40B4-BE49-F238E27FC236}">
                <a16:creationId xmlns:a16="http://schemas.microsoft.com/office/drawing/2014/main" id="{536C169E-89D0-A50C-95F5-A83B2C524A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0"/>
          <a:stretch>
            <a:fillRect/>
          </a:stretch>
        </p:blipFill>
        <p:spPr bwMode="auto">
          <a:xfrm>
            <a:off x="8639868" y="2641000"/>
            <a:ext cx="1798042" cy="189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B2A045E-B556-2EE9-6C54-86D0A81C2FD7}"/>
              </a:ext>
            </a:extLst>
          </p:cNvPr>
          <p:cNvSpPr txBox="1"/>
          <p:nvPr/>
        </p:nvSpPr>
        <p:spPr>
          <a:xfrm>
            <a:off x="8639868" y="4536475"/>
            <a:ext cx="18969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/>
              <a:t>S</a:t>
            </a:r>
            <a:r>
              <a:rPr lang="en-BE" sz="2400" b="0" dirty="0"/>
              <a:t>ample from </a:t>
            </a:r>
            <a:endParaRPr lang="en-US" sz="2400" b="0" dirty="0"/>
          </a:p>
          <a:p>
            <a:r>
              <a:rPr lang="en-BE" sz="2400" b="0" dirty="0"/>
              <a:t>Alessio Silva 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57359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8F956-C05D-0E82-92A2-C958C1F1B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80377-EF65-1D7F-2803-5A0B05EAC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Exercice</a:t>
            </a:r>
            <a:r>
              <a:rPr lang="en-US" dirty="0"/>
              <a:t> : Pixel Classifier of a 3D dataset</a:t>
            </a:r>
          </a:p>
        </p:txBody>
      </p:sp>
      <p:pic>
        <p:nvPicPr>
          <p:cNvPr id="15" name="Picture 14" descr="https://chanzuckerberg.com/wp-content/uploads/2021/08/ilastik-logo-alternate-colors-Anna-Kreshuk.png">
            <a:extLst>
              <a:ext uri="{FF2B5EF4-FFF2-40B4-BE49-F238E27FC236}">
                <a16:creationId xmlns:a16="http://schemas.microsoft.com/office/drawing/2014/main" id="{1882F5CE-15FD-E306-3C54-F092ECA51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6276" y="63894"/>
            <a:ext cx="769396" cy="11054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F769E1-ECE8-711A-AD73-70438185CF01}"/>
              </a:ext>
            </a:extLst>
          </p:cNvPr>
          <p:cNvSpPr txBox="1"/>
          <p:nvPr/>
        </p:nvSpPr>
        <p:spPr>
          <a:xfrm>
            <a:off x="4090103" y="1191349"/>
            <a:ext cx="1002568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latin typeface="Consolas" panose="020B0609020204030204" pitchFamily="49" charset="0"/>
              </a:rPr>
              <a:t>Data&gt;00_2d_example&gt;</a:t>
            </a:r>
            <a:r>
              <a:rPr lang="en-US" sz="2600" b="1" dirty="0" err="1">
                <a:latin typeface="Consolas" panose="020B0609020204030204" pitchFamily="49" charset="0"/>
              </a:rPr>
              <a:t>nuclei_D_AlessioSilva.tif</a:t>
            </a:r>
            <a:endParaRPr lang="en-US" sz="2600" b="1" dirty="0">
              <a:latin typeface="Consolas" panose="020B0609020204030204" pitchFamily="49" charset="0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637FAB1-68B4-C5B4-8F5D-767711EC41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824673-A2F2-EEF6-F56A-B385F5390EC8}"/>
              </a:ext>
            </a:extLst>
          </p:cNvPr>
          <p:cNvSpPr txBox="1"/>
          <p:nvPr/>
        </p:nvSpPr>
        <p:spPr>
          <a:xfrm>
            <a:off x="1140774" y="2097119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1/ Load the data</a:t>
            </a:r>
            <a:endParaRPr lang="nl-B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069ADA-6CF5-A429-4D85-C905DF0A513D}"/>
              </a:ext>
            </a:extLst>
          </p:cNvPr>
          <p:cNvSpPr txBox="1"/>
          <p:nvPr/>
        </p:nvSpPr>
        <p:spPr>
          <a:xfrm>
            <a:off x="1140774" y="3013355"/>
            <a:ext cx="2185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2/ Select the features</a:t>
            </a:r>
            <a:endParaRPr lang="nl-BE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DBF60B-FCF9-630E-847A-6BDD2E52D5C5}"/>
              </a:ext>
            </a:extLst>
          </p:cNvPr>
          <p:cNvSpPr txBox="1"/>
          <p:nvPr/>
        </p:nvSpPr>
        <p:spPr>
          <a:xfrm>
            <a:off x="1140774" y="4761079"/>
            <a:ext cx="210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3/ Define the classes</a:t>
            </a:r>
            <a:endParaRPr lang="nl-BE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F5CA7E7-6AED-0763-F16D-B0584EB4FA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274" y="5169513"/>
            <a:ext cx="1943268" cy="129551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12B2BC4-565B-4BAC-8971-0404D55B9295}"/>
              </a:ext>
            </a:extLst>
          </p:cNvPr>
          <p:cNvSpPr txBox="1"/>
          <p:nvPr/>
        </p:nvSpPr>
        <p:spPr>
          <a:xfrm>
            <a:off x="4090103" y="4761079"/>
            <a:ext cx="157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3/ Draw Labels</a:t>
            </a:r>
            <a:endParaRPr lang="nl-BE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6BF3C2F-2A98-8C0E-72B3-092A5E856B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6757" y="1799429"/>
            <a:ext cx="6104149" cy="104403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E65746E-F2A5-E06C-431A-550273385B7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0937" b="39277"/>
          <a:stretch>
            <a:fillRect/>
          </a:stretch>
        </p:blipFill>
        <p:spPr>
          <a:xfrm>
            <a:off x="3326757" y="2915748"/>
            <a:ext cx="5951736" cy="171488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9B28055-6B5C-7AF3-D6DD-2F3D0D3763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7312" y="5130411"/>
            <a:ext cx="1141654" cy="174055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F0BBF46-1D8E-557C-3181-6A3AF6D217AA}"/>
              </a:ext>
            </a:extLst>
          </p:cNvPr>
          <p:cNvSpPr txBox="1"/>
          <p:nvPr/>
        </p:nvSpPr>
        <p:spPr>
          <a:xfrm>
            <a:off x="6333648" y="4761079"/>
            <a:ext cx="2567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3/ Preview Segmentation</a:t>
            </a:r>
            <a:endParaRPr lang="nl-BE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4CD56A4-86C0-70E4-0556-543622FAC1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7621" y="5130411"/>
            <a:ext cx="1141654" cy="168553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E0E4A48-72E2-96F8-475F-A8F418DB301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0855" y="5588649"/>
            <a:ext cx="830652" cy="45724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FD94880-8E70-635C-AEAC-0DF303373F0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62400" y="5195869"/>
            <a:ext cx="1836579" cy="155461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7FD44C0-5E06-55F2-11E1-191AB6A73442}"/>
              </a:ext>
            </a:extLst>
          </p:cNvPr>
          <p:cNvSpPr txBox="1"/>
          <p:nvPr/>
        </p:nvSpPr>
        <p:spPr>
          <a:xfrm>
            <a:off x="9569068" y="4732900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4/ Export result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790881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C16FD-A5F5-870B-5EE8-060A983BF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7AA8C-8DDB-68C5-0628-C068A6B03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Creating an </a:t>
            </a:r>
            <a:r>
              <a:rPr lang="en-BE" dirty="0" err="1"/>
              <a:t>Ilastik</a:t>
            </a:r>
            <a:r>
              <a:rPr lang="en-BE" dirty="0"/>
              <a:t> Object Classifier 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2B26F-3E02-FFB2-E1E7-0C1BFE361CE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9304" y="1835306"/>
            <a:ext cx="5058860" cy="3280705"/>
          </a:xfrm>
        </p:spPr>
        <p:txBody>
          <a:bodyPr/>
          <a:lstStyle/>
          <a:p>
            <a:r>
              <a:rPr lang="en-BE" sz="2400" dirty="0"/>
              <a:t>Create new object classification project</a:t>
            </a:r>
          </a:p>
          <a:p>
            <a:r>
              <a:rPr lang="en-BE" sz="2400" dirty="0"/>
              <a:t>There are two pipelines:</a:t>
            </a:r>
          </a:p>
          <a:p>
            <a:pPr lvl="1"/>
            <a:r>
              <a:rPr lang="en-BE" sz="2400" dirty="0"/>
              <a:t>Object creation from probability map + classification</a:t>
            </a:r>
          </a:p>
          <a:p>
            <a:pPr lvl="1"/>
            <a:r>
              <a:rPr lang="en-BE" sz="2400" dirty="0"/>
              <a:t>Objects segmented by the user elsewhere + classification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0606BD0-2B4C-BA82-7777-4E7C7FDE7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6235" y="1884905"/>
            <a:ext cx="6380997" cy="4051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9109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59FA9-7244-BFF5-433C-B64A4C792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01C50-5A55-2F26-03F8-7170781BD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Input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E3403-A784-C3F6-CAFE-1CFF053EF3B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83231" y="1985777"/>
            <a:ext cx="5058860" cy="3130234"/>
          </a:xfrm>
        </p:spPr>
        <p:txBody>
          <a:bodyPr/>
          <a:lstStyle/>
          <a:p>
            <a:r>
              <a:rPr lang="en-BE" sz="2400" dirty="0"/>
              <a:t>Add the intensity images in the raw data section</a:t>
            </a:r>
            <a:r>
              <a:rPr lang="en-US" sz="2400" dirty="0"/>
              <a:t>.</a:t>
            </a:r>
            <a:r>
              <a:rPr lang="en-BE" sz="2400" dirty="0"/>
              <a:t> </a:t>
            </a:r>
            <a:r>
              <a:rPr lang="en-BE" sz="2400" i="1" dirty="0"/>
              <a:t>(this data can include more channels than the data used for training the pixel classifier)</a:t>
            </a:r>
            <a:endParaRPr lang="en-US" sz="2400" i="1" dirty="0"/>
          </a:p>
          <a:p>
            <a:endParaRPr lang="en-BE" sz="2400" i="1" dirty="0"/>
          </a:p>
          <a:p>
            <a:r>
              <a:rPr lang="en-BE" sz="2400" dirty="0"/>
              <a:t>Add the corresponding probability images in the prediction maps section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554657-2B32-24AB-4BA3-BD9BB98F7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292" y="2093464"/>
            <a:ext cx="2286319" cy="1019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A8AB74-8ED4-6992-EB44-1856A8B43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8292" y="3991712"/>
            <a:ext cx="2210108" cy="10383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FB4D68-81F6-D7F6-AFA3-2687603982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427" t="6128"/>
          <a:stretch>
            <a:fillRect/>
          </a:stretch>
        </p:blipFill>
        <p:spPr>
          <a:xfrm>
            <a:off x="9489165" y="3735027"/>
            <a:ext cx="1599382" cy="212254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FEA347A-AF66-C9BA-615D-123E1CE5CEB6}"/>
              </a:ext>
            </a:extLst>
          </p:cNvPr>
          <p:cNvCxnSpPr/>
          <p:nvPr/>
        </p:nvCxnSpPr>
        <p:spPr>
          <a:xfrm flipH="1" flipV="1">
            <a:off x="7349213" y="2196232"/>
            <a:ext cx="190195" cy="3187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F813B94E-5BC8-B343-6044-53D1B7B811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128" r="49703"/>
          <a:stretch>
            <a:fillRect/>
          </a:stretch>
        </p:blipFill>
        <p:spPr>
          <a:xfrm>
            <a:off x="9350269" y="1340409"/>
            <a:ext cx="1738278" cy="2227799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DD1E0CD-29B8-B058-FE82-504C9B961AE0}"/>
              </a:ext>
            </a:extLst>
          </p:cNvPr>
          <p:cNvCxnSpPr>
            <a:cxnSpLocks/>
          </p:cNvCxnSpPr>
          <p:nvPr/>
        </p:nvCxnSpPr>
        <p:spPr>
          <a:xfrm>
            <a:off x="8320812" y="2703624"/>
            <a:ext cx="1029457" cy="0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9FCFDFF-1424-84A8-7984-50C82D18EF3F}"/>
              </a:ext>
            </a:extLst>
          </p:cNvPr>
          <p:cNvCxnSpPr>
            <a:cxnSpLocks/>
          </p:cNvCxnSpPr>
          <p:nvPr/>
        </p:nvCxnSpPr>
        <p:spPr>
          <a:xfrm>
            <a:off x="8224618" y="4510897"/>
            <a:ext cx="1145634" cy="0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265DEB5-BB47-5CAE-14E3-16BE2576A210}"/>
              </a:ext>
            </a:extLst>
          </p:cNvPr>
          <p:cNvSpPr txBox="1"/>
          <p:nvPr/>
        </p:nvSpPr>
        <p:spPr>
          <a:xfrm>
            <a:off x="838200" y="1506022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dirty="0">
                <a:latin typeface="Consolas" panose="020B0609020204030204" pitchFamily="49" charset="0"/>
              </a:rPr>
              <a:t>data\02_demo_ObjClass_3Dnuclei\</a:t>
            </a:r>
            <a:r>
              <a:rPr lang="nl-BE" dirty="0" err="1">
                <a:latin typeface="Consolas" panose="020B0609020204030204" pitchFamily="49" charset="0"/>
              </a:rPr>
              <a:t>training_data</a:t>
            </a:r>
            <a:r>
              <a:rPr lang="nl-BE" dirty="0">
                <a:latin typeface="Consolas" panose="020B0609020204030204" pitchFamily="49" charset="0"/>
              </a:rPr>
              <a:t>\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DF4130-5B52-FB25-814B-A893B88483CA}"/>
              </a:ext>
            </a:extLst>
          </p:cNvPr>
          <p:cNvSpPr txBox="1"/>
          <p:nvPr/>
        </p:nvSpPr>
        <p:spPr>
          <a:xfrm>
            <a:off x="6587852" y="969871"/>
            <a:ext cx="3631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dirty="0"/>
              <a:t>nuclei_3D_isotropic_AlessioSilva.h5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00C0E2-1771-D375-7324-9B742BBED962}"/>
              </a:ext>
            </a:extLst>
          </p:cNvPr>
          <p:cNvSpPr txBox="1"/>
          <p:nvPr/>
        </p:nvSpPr>
        <p:spPr>
          <a:xfrm>
            <a:off x="6809699" y="5724347"/>
            <a:ext cx="42788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dirty="0"/>
              <a:t>nuclei_3D_isotropic_data_Probabilities.h5</a:t>
            </a:r>
          </a:p>
        </p:txBody>
      </p:sp>
    </p:spTree>
    <p:extLst>
      <p:ext uri="{BB962C8B-B14F-4D97-AF65-F5344CB8AC3E}">
        <p14:creationId xmlns:p14="http://schemas.microsoft.com/office/powerpoint/2010/main" val="3962065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01B4A-D20F-4BBD-F08D-255E19532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Object Creation: Threshold and Size filter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49D50-5268-9466-35A9-5A02C4BA057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92288"/>
            <a:ext cx="5334000" cy="4700587"/>
          </a:xfrm>
        </p:spPr>
        <p:txBody>
          <a:bodyPr/>
          <a:lstStyle/>
          <a:p>
            <a:r>
              <a:rPr lang="en-BE" sz="2400" dirty="0"/>
              <a:t>If you have objects that are </a:t>
            </a:r>
            <a:r>
              <a:rPr lang="en-BE" sz="2400" b="1" dirty="0"/>
              <a:t>not touching</a:t>
            </a:r>
            <a:r>
              <a:rPr lang="en-BE" sz="2400" dirty="0"/>
              <a:t>. Use the </a:t>
            </a:r>
            <a:r>
              <a:rPr lang="en-BE" sz="2400" b="1" dirty="0"/>
              <a:t>Simple</a:t>
            </a:r>
            <a:r>
              <a:rPr lang="en-BE" sz="2400" dirty="0"/>
              <a:t> method.</a:t>
            </a:r>
          </a:p>
          <a:p>
            <a:r>
              <a:rPr lang="en-BE" sz="2400" dirty="0"/>
              <a:t>The input should be the class you want to create an object from.</a:t>
            </a:r>
          </a:p>
          <a:p>
            <a:r>
              <a:rPr lang="en-BE" sz="2400" dirty="0"/>
              <a:t>You can smooth the probability map</a:t>
            </a:r>
          </a:p>
          <a:p>
            <a:r>
              <a:rPr lang="en-BE" sz="2400" dirty="0"/>
              <a:t>If you want to see the effects of the size filter and the smoothing check the “</a:t>
            </a:r>
            <a:r>
              <a:rPr lang="en-BE" sz="2400" i="1" dirty="0"/>
              <a:t>Show intermediate results</a:t>
            </a:r>
            <a:r>
              <a:rPr lang="en-BE" sz="2400" dirty="0"/>
              <a:t>” box. 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9A0791-FE8C-70F6-CEE6-E97D69F5A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262" y="1792288"/>
            <a:ext cx="4359798" cy="33862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0F7AE9-A9C5-B705-B92F-721BE9F507C4}"/>
              </a:ext>
            </a:extLst>
          </p:cNvPr>
          <p:cNvSpPr txBox="1"/>
          <p:nvPr/>
        </p:nvSpPr>
        <p:spPr>
          <a:xfrm>
            <a:off x="6587852" y="969871"/>
            <a:ext cx="3631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dirty="0"/>
              <a:t>nuclei_3D_isotropic_AlessioSilva.h5</a:t>
            </a:r>
          </a:p>
        </p:txBody>
      </p:sp>
    </p:spTree>
    <p:extLst>
      <p:ext uri="{BB962C8B-B14F-4D97-AF65-F5344CB8AC3E}">
        <p14:creationId xmlns:p14="http://schemas.microsoft.com/office/powerpoint/2010/main" val="6334925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7EC9D-53C3-4CC3-A158-7087CF9D9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Viewer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DA7CB-4A8E-1B07-CAB5-6A5F61394EF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199" y="1792288"/>
            <a:ext cx="4983071" cy="4700587"/>
          </a:xfrm>
        </p:spPr>
        <p:txBody>
          <a:bodyPr/>
          <a:lstStyle/>
          <a:p>
            <a:r>
              <a:rPr lang="en-US" dirty="0"/>
              <a:t>V</a:t>
            </a:r>
            <a:r>
              <a:rPr lang="en-BE" dirty="0" err="1"/>
              <a:t>iewer</a:t>
            </a:r>
            <a:r>
              <a:rPr lang="en-BE" dirty="0"/>
              <a:t> </a:t>
            </a:r>
            <a:r>
              <a:rPr lang="en-US" dirty="0"/>
              <a:t>preview</a:t>
            </a:r>
            <a:r>
              <a:rPr lang="en-BE" dirty="0"/>
              <a:t> when “Show intermediate results is active”</a:t>
            </a:r>
          </a:p>
          <a:p>
            <a:r>
              <a:rPr lang="en-BE" dirty="0"/>
              <a:t>Separated objects </a:t>
            </a:r>
            <a:r>
              <a:rPr lang="en-US" dirty="0"/>
              <a:t>h</a:t>
            </a:r>
            <a:r>
              <a:rPr lang="en-BE" dirty="0"/>
              <a:t>ave individual labels and hence different colours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0EAB5F-0188-3A54-F290-00D9DDE19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271" y="1792288"/>
            <a:ext cx="2202589" cy="2274102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87D01DA-7420-B1A7-2D6D-1816D31D887D}"/>
              </a:ext>
            </a:extLst>
          </p:cNvPr>
          <p:cNvGrpSpPr/>
          <p:nvPr/>
        </p:nvGrpSpPr>
        <p:grpSpPr>
          <a:xfrm>
            <a:off x="8427720" y="1792288"/>
            <a:ext cx="3112316" cy="4616132"/>
            <a:chOff x="8427720" y="1792288"/>
            <a:chExt cx="3112316" cy="46161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E8BC3A5-22E4-BE82-6363-2ED6AD8DE8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8393" r="30874"/>
            <a:stretch>
              <a:fillRect/>
            </a:stretch>
          </p:blipFill>
          <p:spPr>
            <a:xfrm>
              <a:off x="8427720" y="1792288"/>
              <a:ext cx="3112316" cy="461613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6B2A8C6-2E29-CECC-B880-926E792E51E1}"/>
                </a:ext>
              </a:extLst>
            </p:cNvPr>
            <p:cNvSpPr txBox="1"/>
            <p:nvPr/>
          </p:nvSpPr>
          <p:spPr>
            <a:xfrm>
              <a:off x="10277865" y="1935480"/>
              <a:ext cx="1075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E" dirty="0">
                  <a:solidFill>
                    <a:schemeClr val="bg1"/>
                  </a:solidFill>
                </a:rPr>
                <a:t>Object 1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D792432-9BCE-C909-6AC1-BBCFAF47572A}"/>
                </a:ext>
              </a:extLst>
            </p:cNvPr>
            <p:cNvSpPr txBox="1"/>
            <p:nvPr/>
          </p:nvSpPr>
          <p:spPr>
            <a:xfrm>
              <a:off x="8907942" y="3697058"/>
              <a:ext cx="1075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E" dirty="0">
                  <a:solidFill>
                    <a:schemeClr val="bg1"/>
                  </a:solidFill>
                </a:rPr>
                <a:t>Object 2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E3226C7-A93D-3C69-79F2-E723BEA1DB92}"/>
                </a:ext>
              </a:extLst>
            </p:cNvPr>
            <p:cNvSpPr txBox="1"/>
            <p:nvPr/>
          </p:nvSpPr>
          <p:spPr>
            <a:xfrm>
              <a:off x="8751277" y="2375341"/>
              <a:ext cx="12326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E" dirty="0">
                  <a:solidFill>
                    <a:schemeClr val="bg1"/>
                  </a:solidFill>
                </a:rPr>
                <a:t>No object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8223F7B-0517-2097-50C7-8340E75A7426}"/>
                </a:ext>
              </a:extLst>
            </p:cNvPr>
            <p:cNvCxnSpPr/>
            <p:nvPr/>
          </p:nvCxnSpPr>
          <p:spPr>
            <a:xfrm>
              <a:off x="9367577" y="2769319"/>
              <a:ext cx="178150" cy="16002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266419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58AD-DF24-BDCE-D181-3267776E9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How to separate touching objects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E731B-7EA8-C547-8D12-4ED924AF49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1792286"/>
            <a:ext cx="4975860" cy="4700587"/>
          </a:xfrm>
        </p:spPr>
        <p:txBody>
          <a:bodyPr>
            <a:normAutofit/>
          </a:bodyPr>
          <a:lstStyle/>
          <a:p>
            <a:r>
              <a:rPr lang="en-BE" dirty="0"/>
              <a:t>To separate touching objects change the Thresholding method to </a:t>
            </a:r>
            <a:r>
              <a:rPr lang="en-BE" i="1" dirty="0"/>
              <a:t>Hysteresis</a:t>
            </a:r>
            <a:endParaRPr lang="en-US" i="1" dirty="0"/>
          </a:p>
          <a:p>
            <a:endParaRPr lang="en-BE" i="1" dirty="0"/>
          </a:p>
          <a:p>
            <a:r>
              <a:rPr lang="en-BE" i="1" dirty="0"/>
              <a:t>Hysteresis</a:t>
            </a:r>
            <a:r>
              <a:rPr lang="en-BE" dirty="0"/>
              <a:t> uses a higher threshold to create seeds and then grows them until reaching the second threshold. This method is known as marker seeded watershed </a:t>
            </a:r>
            <a:r>
              <a:rPr lang="en-US" dirty="0"/>
              <a:t>(</a:t>
            </a:r>
            <a:r>
              <a:rPr lang="en-BE" dirty="0"/>
              <a:t>a</a:t>
            </a:r>
            <a:r>
              <a:rPr lang="en-US" dirty="0"/>
              <a:t>.</a:t>
            </a:r>
            <a:r>
              <a:rPr lang="en-BE" dirty="0"/>
              <a:t>k</a:t>
            </a:r>
            <a:r>
              <a:rPr lang="en-US" dirty="0"/>
              <a:t>.</a:t>
            </a:r>
            <a:r>
              <a:rPr lang="en-BE" dirty="0"/>
              <a:t>a</a:t>
            </a:r>
            <a:r>
              <a:rPr lang="en-US" dirty="0"/>
              <a:t>.</a:t>
            </a:r>
            <a:r>
              <a:rPr lang="en-BE" dirty="0"/>
              <a:t> seeded region growing</a:t>
            </a:r>
            <a:r>
              <a:rPr lang="en-US" dirty="0"/>
              <a:t>)</a:t>
            </a:r>
            <a:r>
              <a:rPr lang="en-BE" dirty="0"/>
              <a:t>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93C201-DC6C-9A14-7F93-41BAE1C69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260" y="1954330"/>
            <a:ext cx="3062752" cy="47005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8BEB79-E8D6-4B1B-9251-E25A4FA44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8515" y="1954329"/>
            <a:ext cx="2831302" cy="47005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362427-CFA8-DB0B-8F1D-BABAE40614B9}"/>
              </a:ext>
            </a:extLst>
          </p:cNvPr>
          <p:cNvSpPr txBox="1"/>
          <p:nvPr/>
        </p:nvSpPr>
        <p:spPr>
          <a:xfrm>
            <a:off x="6462879" y="1607412"/>
            <a:ext cx="1917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Simple threshold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B5B707-AC71-DE4C-957C-8AF1B59CFC6C}"/>
              </a:ext>
            </a:extLst>
          </p:cNvPr>
          <p:cNvSpPr txBox="1"/>
          <p:nvPr/>
        </p:nvSpPr>
        <p:spPr>
          <a:xfrm>
            <a:off x="9369079" y="1584997"/>
            <a:ext cx="2270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Hysteresis threshold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2561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7B3F3-047B-799A-CC49-9799AD1E4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Object feature selection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E356D-D1B2-C83A-ED3A-FD2D180818A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92288"/>
            <a:ext cx="4808220" cy="4700587"/>
          </a:xfrm>
        </p:spPr>
        <p:txBody>
          <a:bodyPr/>
          <a:lstStyle/>
          <a:p>
            <a:r>
              <a:rPr lang="en-US" dirty="0"/>
              <a:t>Compute </a:t>
            </a:r>
            <a:r>
              <a:rPr lang="en-BE" dirty="0"/>
              <a:t>features to be to train a classifier </a:t>
            </a:r>
            <a:endParaRPr lang="en-US" dirty="0"/>
          </a:p>
          <a:p>
            <a:endParaRPr lang="en-BE" dirty="0"/>
          </a:p>
          <a:p>
            <a:r>
              <a:rPr lang="en-BE" dirty="0"/>
              <a:t>As before, </a:t>
            </a:r>
            <a:r>
              <a:rPr lang="en-US" dirty="0"/>
              <a:t>define </a:t>
            </a:r>
            <a:r>
              <a:rPr lang="en-BE" dirty="0"/>
              <a:t>what would be the best features to differentiate your classes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3ACE1B-AA51-5C6D-F3A3-488A8C459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865" y="1317745"/>
            <a:ext cx="2934109" cy="19910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B17E9D-A397-1D17-E398-C955F95D6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089" y="1317744"/>
            <a:ext cx="2517200" cy="17607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D7CB874-9271-58E3-A9C3-7B102DFE50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865" y="3490346"/>
            <a:ext cx="2934108" cy="6572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EB78887-FBF0-F2E5-1500-80BE96DECB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0911" y="3490346"/>
            <a:ext cx="2915057" cy="53347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B19E1CA-6B50-6CDC-7834-1F525C5254AD}"/>
              </a:ext>
            </a:extLst>
          </p:cNvPr>
          <p:cNvSpPr txBox="1"/>
          <p:nvPr/>
        </p:nvSpPr>
        <p:spPr>
          <a:xfrm>
            <a:off x="9052560" y="4142581"/>
            <a:ext cx="3031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For neighbourhood features, </a:t>
            </a:r>
            <a:r>
              <a:rPr lang="en-US" dirty="0"/>
              <a:t>s</a:t>
            </a:r>
            <a:r>
              <a:rPr lang="en-BE" dirty="0" err="1"/>
              <a:t>ize</a:t>
            </a:r>
            <a:r>
              <a:rPr lang="en-BE" dirty="0"/>
              <a:t> can be changed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88D151-FB93-05B8-5863-EF1BE9F40E12}"/>
              </a:ext>
            </a:extLst>
          </p:cNvPr>
          <p:cNvSpPr txBox="1"/>
          <p:nvPr/>
        </p:nvSpPr>
        <p:spPr>
          <a:xfrm>
            <a:off x="6292010" y="4142581"/>
            <a:ext cx="2783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Default selection recommended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3034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A7FA12-34DC-8666-A1F9-A197399CE2A7}"/>
              </a:ext>
            </a:extLst>
          </p:cNvPr>
          <p:cNvSpPr/>
          <p:nvPr/>
        </p:nvSpPr>
        <p:spPr>
          <a:xfrm>
            <a:off x="162046" y="5995686"/>
            <a:ext cx="1307939" cy="7769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A33D06-E2A2-7BCF-D347-EE29CAB3D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Object classification – Training the classifier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411D7-D710-839F-FF41-2BE9A63B758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7111" y="1706946"/>
            <a:ext cx="4748754" cy="5065712"/>
          </a:xfrm>
        </p:spPr>
        <p:txBody>
          <a:bodyPr>
            <a:noAutofit/>
          </a:bodyPr>
          <a:lstStyle/>
          <a:p>
            <a:r>
              <a:rPr lang="en-BE" dirty="0"/>
              <a:t>Training is done </a:t>
            </a:r>
            <a:r>
              <a:rPr lang="en-US" dirty="0"/>
              <a:t>like</a:t>
            </a:r>
            <a:r>
              <a:rPr lang="en-BE" dirty="0"/>
              <a:t> the pixel classifier </a:t>
            </a:r>
            <a:r>
              <a:rPr lang="en-US" dirty="0"/>
              <a:t>but</a:t>
            </a:r>
            <a:r>
              <a:rPr lang="en-BE" dirty="0"/>
              <a:t> here you click on objects instead of pixels.</a:t>
            </a:r>
          </a:p>
          <a:p>
            <a:r>
              <a:rPr lang="en-US" dirty="0"/>
              <a:t>V</a:t>
            </a:r>
            <a:r>
              <a:rPr lang="en-BE" dirty="0" err="1"/>
              <a:t>isualize</a:t>
            </a:r>
            <a:r>
              <a:rPr lang="en-BE" dirty="0"/>
              <a:t> objects as Binary image or with a random colour (Object Identity)</a:t>
            </a:r>
          </a:p>
          <a:p>
            <a:r>
              <a:rPr lang="en-US" dirty="0"/>
              <a:t>U</a:t>
            </a:r>
            <a:r>
              <a:rPr lang="en-BE" dirty="0"/>
              <a:t>se the uncertainty to guide your annotations. </a:t>
            </a:r>
          </a:p>
          <a:p>
            <a:r>
              <a:rPr lang="en-BE" dirty="0"/>
              <a:t>If</a:t>
            </a:r>
            <a:r>
              <a:rPr lang="en-US" dirty="0"/>
              <a:t> no</a:t>
            </a:r>
            <a:r>
              <a:rPr lang="en-BE" dirty="0"/>
              <a:t> need </a:t>
            </a:r>
            <a:r>
              <a:rPr lang="en-US" dirty="0"/>
              <a:t>of </a:t>
            </a:r>
            <a:r>
              <a:rPr lang="en-BE" dirty="0"/>
              <a:t>the classification</a:t>
            </a:r>
            <a:r>
              <a:rPr lang="en-US" dirty="0"/>
              <a:t>, </a:t>
            </a:r>
            <a:r>
              <a:rPr lang="en-BE" dirty="0"/>
              <a:t>only annotate your class and export the object measurements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C26E6D-0355-6E23-47B1-4BBC9E6B1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415" y="2016162"/>
            <a:ext cx="2207436" cy="82591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34796333-20C8-1E56-B5FF-38F6F5E8DDCF}"/>
              </a:ext>
            </a:extLst>
          </p:cNvPr>
          <p:cNvGrpSpPr>
            <a:grpSpLocks noChangeAspect="1"/>
          </p:cNvGrpSpPr>
          <p:nvPr/>
        </p:nvGrpSpPr>
        <p:grpSpPr>
          <a:xfrm>
            <a:off x="7390543" y="1938440"/>
            <a:ext cx="4607468" cy="3633152"/>
            <a:chOff x="7284720" y="2946073"/>
            <a:chExt cx="4784768" cy="377295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828A6B1-2D30-3849-0AD3-C6D815E5E4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84720" y="3315405"/>
              <a:ext cx="2246395" cy="340362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53C6FF3-BA4E-6DEF-8364-4FE25C3053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90306" y="3315405"/>
              <a:ext cx="2479182" cy="3403627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F5C5667-F3B3-3A69-5D81-EB09F7F1AC69}"/>
                </a:ext>
              </a:extLst>
            </p:cNvPr>
            <p:cNvSpPr txBox="1"/>
            <p:nvPr/>
          </p:nvSpPr>
          <p:spPr>
            <a:xfrm>
              <a:off x="7284720" y="2946073"/>
              <a:ext cx="19483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E" dirty="0"/>
                <a:t>Prediction binary</a:t>
              </a:r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2DFDC95-4D76-C50D-BDFA-28EE8C19754F}"/>
                </a:ext>
              </a:extLst>
            </p:cNvPr>
            <p:cNvSpPr txBox="1"/>
            <p:nvPr/>
          </p:nvSpPr>
          <p:spPr>
            <a:xfrm>
              <a:off x="9590306" y="2946073"/>
              <a:ext cx="17636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E" dirty="0"/>
                <a:t>Object identity</a:t>
              </a:r>
              <a:endParaRPr lang="en-US" dirty="0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8DD844A0-71ED-3028-A332-6E3C555C44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5865" y="2896418"/>
            <a:ext cx="2197986" cy="2878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639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E5FF8-9E69-7C00-4C1C-D0773BC2E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B830910-79C2-3FF3-0342-D70CEB034DE1}"/>
              </a:ext>
            </a:extLst>
          </p:cNvPr>
          <p:cNvSpPr/>
          <p:nvPr/>
        </p:nvSpPr>
        <p:spPr>
          <a:xfrm>
            <a:off x="162046" y="5995686"/>
            <a:ext cx="1307939" cy="7769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E3EF57-EFF3-2D0D-1F3C-1498695EF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Object information export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39381-5967-66C1-5FA5-2DD3D676B92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7110" y="1706946"/>
            <a:ext cx="6079989" cy="5065712"/>
          </a:xfrm>
        </p:spPr>
        <p:txBody>
          <a:bodyPr>
            <a:noAutofit/>
          </a:bodyPr>
          <a:lstStyle/>
          <a:p>
            <a:r>
              <a:rPr lang="en-US" dirty="0"/>
              <a:t>Export </a:t>
            </a:r>
            <a:r>
              <a:rPr lang="en-BE" dirty="0"/>
              <a:t>predictions or probabilities </a:t>
            </a:r>
            <a:r>
              <a:rPr lang="en-US" b="1" dirty="0"/>
              <a:t>and</a:t>
            </a:r>
            <a:r>
              <a:rPr lang="en-US" dirty="0"/>
              <a:t> </a:t>
            </a:r>
            <a:r>
              <a:rPr lang="en-BE" dirty="0"/>
              <a:t>also export the object identities to </a:t>
            </a:r>
            <a:r>
              <a:rPr lang="en-US" dirty="0"/>
              <a:t>do</a:t>
            </a:r>
            <a:r>
              <a:rPr lang="en-BE" dirty="0"/>
              <a:t> further measurements elsewhere.</a:t>
            </a:r>
            <a:endParaRPr lang="en-US" dirty="0"/>
          </a:p>
          <a:p>
            <a:endParaRPr lang="en-BE" dirty="0"/>
          </a:p>
          <a:p>
            <a:r>
              <a:rPr lang="en-BE" dirty="0" err="1"/>
              <a:t>Ilastik</a:t>
            </a:r>
            <a:r>
              <a:rPr lang="en-BE" dirty="0"/>
              <a:t> can export the feature table containing all of the selected features. </a:t>
            </a:r>
            <a:r>
              <a:rPr lang="en-US" dirty="0"/>
              <a:t>( s</a:t>
            </a:r>
            <a:r>
              <a:rPr lang="en-BE" dirty="0"/>
              <a:t>elect </a:t>
            </a:r>
            <a:r>
              <a:rPr lang="en-US" dirty="0"/>
              <a:t>them </a:t>
            </a:r>
            <a:r>
              <a:rPr lang="en-BE" dirty="0"/>
              <a:t>in “</a:t>
            </a:r>
            <a:r>
              <a:rPr lang="en-BE" i="1" dirty="0"/>
              <a:t>Configure Feature Table Export</a:t>
            </a:r>
            <a:r>
              <a:rPr lang="en-BE" dirty="0"/>
              <a:t>”</a:t>
            </a:r>
            <a:r>
              <a:rPr lang="en-US" dirty="0"/>
              <a:t>)</a:t>
            </a:r>
          </a:p>
          <a:p>
            <a:endParaRPr lang="en-BE" dirty="0"/>
          </a:p>
          <a:p>
            <a:r>
              <a:rPr lang="en-BE" dirty="0"/>
              <a:t>This configuration </a:t>
            </a:r>
            <a:r>
              <a:rPr lang="en-US" dirty="0"/>
              <a:t>can</a:t>
            </a:r>
            <a:r>
              <a:rPr lang="en-BE" dirty="0"/>
              <a:t> be used for the batch processing tab too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F8F9B1-218A-C9DE-CA5F-9E003A1A0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564" y="1822693"/>
            <a:ext cx="3722308" cy="25373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9AB865-CD43-BF97-8B4D-4D7FD0538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564" y="4482073"/>
            <a:ext cx="3620585" cy="14020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20BE099-ED78-4877-9502-13D4D77018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8939" y="2683753"/>
            <a:ext cx="1305107" cy="1533739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0823D30-45E1-71E5-C02A-1B8EB22404C7}"/>
              </a:ext>
            </a:extLst>
          </p:cNvPr>
          <p:cNvCxnSpPr/>
          <p:nvPr/>
        </p:nvCxnSpPr>
        <p:spPr>
          <a:xfrm>
            <a:off x="10268933" y="3308527"/>
            <a:ext cx="7162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29315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6BE77-862C-BF67-BDDF-B4083ACE1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95B3660-740B-5C94-EE52-60BD7796ADFD}"/>
              </a:ext>
            </a:extLst>
          </p:cNvPr>
          <p:cNvSpPr/>
          <p:nvPr/>
        </p:nvSpPr>
        <p:spPr>
          <a:xfrm>
            <a:off x="162046" y="5995686"/>
            <a:ext cx="1307939" cy="7769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92E12-99DF-D193-CCED-774546199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 err="1"/>
              <a:t>Blockwise</a:t>
            </a:r>
            <a:r>
              <a:rPr lang="en-BE" dirty="0"/>
              <a:t> object classification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DCB8B-4C12-E042-BFE2-E73D0E659BC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7110" y="1706946"/>
            <a:ext cx="4721265" cy="5065712"/>
          </a:xfrm>
        </p:spPr>
        <p:txBody>
          <a:bodyPr>
            <a:noAutofit/>
          </a:bodyPr>
          <a:lstStyle/>
          <a:p>
            <a:r>
              <a:rPr lang="en-BE" dirty="0"/>
              <a:t>Standard object classification in </a:t>
            </a:r>
            <a:r>
              <a:rPr lang="en-BE" dirty="0" err="1"/>
              <a:t>Ilastik</a:t>
            </a:r>
            <a:r>
              <a:rPr lang="en-BE" dirty="0"/>
              <a:t> is limited by RAM. </a:t>
            </a:r>
            <a:r>
              <a:rPr lang="en-US" dirty="0"/>
              <a:t>For large dataset, </a:t>
            </a:r>
            <a:r>
              <a:rPr lang="en-US" b="1" dirty="0"/>
              <a:t>select the</a:t>
            </a:r>
            <a:r>
              <a:rPr lang="en-BE" dirty="0"/>
              <a:t> “</a:t>
            </a:r>
            <a:r>
              <a:rPr lang="en-BE" i="1" dirty="0" err="1"/>
              <a:t>Blockwise</a:t>
            </a:r>
            <a:r>
              <a:rPr lang="en-BE" i="1" dirty="0"/>
              <a:t> Object Classification</a:t>
            </a:r>
            <a:r>
              <a:rPr lang="en-BE" dirty="0"/>
              <a:t>” method.</a:t>
            </a:r>
          </a:p>
          <a:p>
            <a:r>
              <a:rPr lang="en-BE" dirty="0" err="1"/>
              <a:t>Blocksize</a:t>
            </a:r>
            <a:r>
              <a:rPr lang="en-BE" dirty="0"/>
              <a:t> should be small to fit memory but large enough not to miss-segment objects.</a:t>
            </a:r>
          </a:p>
          <a:p>
            <a:r>
              <a:rPr lang="en-US" dirty="0"/>
              <a:t>B</a:t>
            </a:r>
            <a:r>
              <a:rPr lang="en-BE" dirty="0"/>
              <a:t>e sure to select </a:t>
            </a:r>
            <a:r>
              <a:rPr lang="en-BE" dirty="0" err="1"/>
              <a:t>blockwise</a:t>
            </a:r>
            <a:r>
              <a:rPr lang="en-BE" dirty="0"/>
              <a:t> in the object information export tab.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B1792F-92BB-190D-5E7C-5F9C10ACB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56" y="1706946"/>
            <a:ext cx="2194494" cy="2194494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53B2F02D-B9B9-6E63-5EF6-63B339CD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2550" y="1706946"/>
            <a:ext cx="4721265" cy="339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86AB08-015F-7A9A-A374-06F7DA4D5B48}"/>
              </a:ext>
            </a:extLst>
          </p:cNvPr>
          <p:cNvSpPr txBox="1"/>
          <p:nvPr/>
        </p:nvSpPr>
        <p:spPr>
          <a:xfrm>
            <a:off x="7406640" y="5097780"/>
            <a:ext cx="41149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https://www.ilastik.org/documentation/objects/objects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D55F42-C7F2-A52C-CE5C-0BF5347995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0551" y="5480764"/>
            <a:ext cx="3336209" cy="1291894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5FE36B8-927C-BD88-55E9-DEBB70BD82CB}"/>
              </a:ext>
            </a:extLst>
          </p:cNvPr>
          <p:cNvCxnSpPr>
            <a:cxnSpLocks/>
          </p:cNvCxnSpPr>
          <p:nvPr/>
        </p:nvCxnSpPr>
        <p:spPr>
          <a:xfrm flipH="1">
            <a:off x="7178720" y="6213965"/>
            <a:ext cx="327660" cy="0"/>
          </a:xfrm>
          <a:prstGeom prst="straightConnector1">
            <a:avLst/>
          </a:prstGeom>
          <a:ln w="57150">
            <a:solidFill>
              <a:srgbClr val="FF68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6AC980-60EA-464C-231D-0D599BADF906}"/>
              </a:ext>
            </a:extLst>
          </p:cNvPr>
          <p:cNvCxnSpPr>
            <a:cxnSpLocks/>
          </p:cNvCxnSpPr>
          <p:nvPr/>
        </p:nvCxnSpPr>
        <p:spPr>
          <a:xfrm flipH="1">
            <a:off x="7178720" y="6419705"/>
            <a:ext cx="327660" cy="0"/>
          </a:xfrm>
          <a:prstGeom prst="straightConnector1">
            <a:avLst/>
          </a:prstGeom>
          <a:ln w="57150">
            <a:solidFill>
              <a:srgbClr val="FF68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71762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4BE07-DCF7-F937-AF0C-92C00F77D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Further learning	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D9C81A-1298-AB01-FD2F-EA87D70EA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782565"/>
            <a:ext cx="5387865" cy="15442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5AB74F-5714-BB5B-0833-96C7E39274B6}"/>
              </a:ext>
            </a:extLst>
          </p:cNvPr>
          <p:cNvSpPr txBox="1"/>
          <p:nvPr/>
        </p:nvSpPr>
        <p:spPr>
          <a:xfrm>
            <a:off x="792000" y="3395555"/>
            <a:ext cx="6447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1A2A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https://www.ilastik.org/documentation/carving/carving</a:t>
            </a:r>
            <a:endParaRPr lang="en-BE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F91B9A-BFCE-45CE-9371-4F424B90AC6B}"/>
              </a:ext>
            </a:extLst>
          </p:cNvPr>
          <p:cNvSpPr txBox="1"/>
          <p:nvPr/>
        </p:nvSpPr>
        <p:spPr>
          <a:xfrm>
            <a:off x="792000" y="6312176"/>
            <a:ext cx="6515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linkClick r:id="rId4"/>
              </a:rPr>
              <a:t>https://www.ilastik.org/documentation/tracking/tracking</a:t>
            </a:r>
            <a:endParaRPr lang="en-BE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02786F-8FAB-1F96-592C-EA5D7A5A3CCB}"/>
              </a:ext>
            </a:extLst>
          </p:cNvPr>
          <p:cNvSpPr txBox="1"/>
          <p:nvPr/>
        </p:nvSpPr>
        <p:spPr>
          <a:xfrm>
            <a:off x="792000" y="1529158"/>
            <a:ext cx="4421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b="1" dirty="0"/>
              <a:t>EM boundary based segmentation in 3D</a:t>
            </a:r>
            <a:endParaRPr 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9725FF-B995-88D4-A143-B3F7E798795A}"/>
              </a:ext>
            </a:extLst>
          </p:cNvPr>
          <p:cNvSpPr txBox="1"/>
          <p:nvPr/>
        </p:nvSpPr>
        <p:spPr>
          <a:xfrm>
            <a:off x="792000" y="4102406"/>
            <a:ext cx="1083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b="1" dirty="0"/>
              <a:t>Tracking</a:t>
            </a:r>
            <a:endParaRPr lang="en-US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EEA38A9-FA02-B01E-70CE-4AB3F04D92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000" y="4543471"/>
            <a:ext cx="5212560" cy="16969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188C91-305A-40E7-23A8-A3D73D5EC705}"/>
              </a:ext>
            </a:extLst>
          </p:cNvPr>
          <p:cNvSpPr txBox="1"/>
          <p:nvPr/>
        </p:nvSpPr>
        <p:spPr>
          <a:xfrm>
            <a:off x="7879560" y="3395555"/>
            <a:ext cx="3733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6"/>
              </a:rPr>
              <a:t>https://imagej.net/plugins/tws/</a:t>
            </a:r>
            <a:endParaRPr lang="en-BE" dirty="0"/>
          </a:p>
          <a:p>
            <a:r>
              <a:rPr lang="en-BE" dirty="0">
                <a:hlinkClick r:id="rId7"/>
              </a:rPr>
              <a:t>https://github.com/ilastik/ilastik-napari</a:t>
            </a:r>
            <a:endParaRPr lang="en-BE" dirty="0"/>
          </a:p>
          <a:p>
            <a:r>
              <a:rPr lang="en-BE" dirty="0">
                <a:hlinkClick r:id="rId8"/>
              </a:rPr>
              <a:t>https://qupath.github.io/</a:t>
            </a:r>
            <a:endParaRPr lang="en-BE" dirty="0"/>
          </a:p>
          <a:p>
            <a:endParaRPr lang="en-B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8D5DD2-067F-B3F2-437F-692A44EC08FB}"/>
              </a:ext>
            </a:extLst>
          </p:cNvPr>
          <p:cNvSpPr txBox="1"/>
          <p:nvPr/>
        </p:nvSpPr>
        <p:spPr>
          <a:xfrm>
            <a:off x="8364471" y="1529158"/>
            <a:ext cx="1938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b="1" dirty="0"/>
              <a:t>Other classifiers</a:t>
            </a:r>
            <a:endParaRPr lang="en-US" b="1" dirty="0"/>
          </a:p>
        </p:txBody>
      </p:sp>
      <p:pic>
        <p:nvPicPr>
          <p:cNvPr id="3076" name="Picture 4" descr="tws-pipeline">
            <a:extLst>
              <a:ext uri="{FF2B5EF4-FFF2-40B4-BE49-F238E27FC236}">
                <a16:creationId xmlns:a16="http://schemas.microsoft.com/office/drawing/2014/main" id="{F5249208-CA24-FE49-AA3D-31AC55C7C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320" y="1898490"/>
            <a:ext cx="3101340" cy="1430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3BB03B7-B298-1411-F99D-C4B24A11331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98621" y="1868010"/>
            <a:ext cx="1714739" cy="457264"/>
          </a:xfrm>
          <a:prstGeom prst="rect">
            <a:avLst/>
          </a:prstGeom>
        </p:spPr>
      </p:pic>
      <p:pic>
        <p:nvPicPr>
          <p:cNvPr id="3080" name="Picture 8" descr="QuPath · GitHub">
            <a:extLst>
              <a:ext uri="{FF2B5EF4-FFF2-40B4-BE49-F238E27FC236}">
                <a16:creationId xmlns:a16="http://schemas.microsoft.com/office/drawing/2014/main" id="{E23460C8-A874-1217-6B6E-86B91BA0D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920" y="2388026"/>
            <a:ext cx="773070" cy="773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BDE2739-395B-A6FC-B943-F3DCBF8B1E04}"/>
              </a:ext>
            </a:extLst>
          </p:cNvPr>
          <p:cNvSpPr txBox="1"/>
          <p:nvPr/>
        </p:nvSpPr>
        <p:spPr>
          <a:xfrm>
            <a:off x="7010640" y="6035177"/>
            <a:ext cx="54716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12"/>
              </a:rPr>
              <a:t>https://www.youtube.com/watch?v=F6KbJ487iiU</a:t>
            </a:r>
            <a:endParaRPr lang="en-BE" dirty="0"/>
          </a:p>
          <a:p>
            <a:r>
              <a:rPr lang="en-US" dirty="0">
                <a:hlinkClick r:id="rId13"/>
              </a:rPr>
              <a:t>https://www.ilastik.org/documentation/</a:t>
            </a:r>
            <a:endParaRPr lang="en-BE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006F09-B9ED-CC88-822C-47E46C1B803D}"/>
              </a:ext>
            </a:extLst>
          </p:cNvPr>
          <p:cNvSpPr/>
          <p:nvPr/>
        </p:nvSpPr>
        <p:spPr>
          <a:xfrm>
            <a:off x="162046" y="5995686"/>
            <a:ext cx="1307939" cy="7769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CF5FE1F-9FAC-5FE7-D70A-2F7FC831E83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04470" y="4751932"/>
            <a:ext cx="4208890" cy="1280050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354885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8" descr="C:\Users\u0094799\Documents\Work\GENT\Summer_School\Images\Thank-You-word-cloud-1024x791(1)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124" y="-390685"/>
            <a:ext cx="10184096" cy="6530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3" descr="C:\Users\u0094799\Documents\Work\GENT\Summer_School\Images\image_preview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9617" y="5741910"/>
            <a:ext cx="503055" cy="902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C:\Users\u0094799\Documents\Work\GENT\Summer_School\Images\220px-Ghent_University_logo.svg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9058" y="5809195"/>
            <a:ext cx="1082756" cy="767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4817797" y="6049650"/>
            <a:ext cx="2241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600" dirty="0">
                <a:solidFill>
                  <a:schemeClr val="bg1">
                    <a:lumMod val="50000"/>
                  </a:schemeClr>
                </a:solidFill>
              </a:rPr>
              <a:t>Benjamin.Pavie@vib.be</a:t>
            </a:r>
          </a:p>
        </p:txBody>
      </p:sp>
      <p:pic>
        <p:nvPicPr>
          <p:cNvPr id="17" name="Picture 7" descr="C:\Users\u0094799\Documents\Work\GENT\Summer_School\Images\email-icon-vector-msg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9472" y="6015727"/>
            <a:ext cx="568325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E2AD6FB-CB61-44E9-BF10-10972542A3D7}"/>
              </a:ext>
            </a:extLst>
          </p:cNvPr>
          <p:cNvSpPr/>
          <p:nvPr/>
        </p:nvSpPr>
        <p:spPr>
          <a:xfrm>
            <a:off x="180975" y="5809195"/>
            <a:ext cx="1933575" cy="8773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5D3D7C-D5D0-4513-8F0F-CB166735657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40" y="5688595"/>
            <a:ext cx="2367159" cy="95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575486"/>
      </p:ext>
    </p:extLst>
  </p:cSld>
  <p:clrMapOvr>
    <a:masterClrMapping/>
  </p:clrMapOvr>
</p:sld>
</file>

<file path=ppt/theme/theme1.xml><?xml version="1.0" encoding="utf-8"?>
<a:theme xmlns:a="http://schemas.openxmlformats.org/drawingml/2006/main" name="VIB_template_new">
  <a:themeElements>
    <a:clrScheme name="VIB Colours">
      <a:dk1>
        <a:srgbClr val="1B2944"/>
      </a:dk1>
      <a:lt1>
        <a:sysClr val="window" lastClr="FFFFFF"/>
      </a:lt1>
      <a:dk2>
        <a:srgbClr val="1B2944"/>
      </a:dk2>
      <a:lt2>
        <a:srgbClr val="FFFFFF"/>
      </a:lt2>
      <a:accent1>
        <a:srgbClr val="5DB7B1"/>
      </a:accent1>
      <a:accent2>
        <a:srgbClr val="5A2A82"/>
      </a:accent2>
      <a:accent3>
        <a:srgbClr val="FF681E"/>
      </a:accent3>
      <a:accent4>
        <a:srgbClr val="1B2944"/>
      </a:accent4>
      <a:accent5>
        <a:srgbClr val="7C7C7C"/>
      </a:accent5>
      <a:accent6>
        <a:srgbClr val="FFFFFF"/>
      </a:accent6>
      <a:hlink>
        <a:srgbClr val="5DB7B1"/>
      </a:hlink>
      <a:folHlink>
        <a:srgbClr val="5DB7B1"/>
      </a:folHlink>
    </a:clrScheme>
    <a:fontScheme name="VIB Theme">
      <a:majorFont>
        <a:latin typeface="Corbel"/>
        <a:ea typeface=""/>
        <a:cs typeface=""/>
      </a:majorFont>
      <a:minorFont>
        <a:latin typeface="Corbe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B_PPT_template" id="{65FE5127-27BF-42C5-B5EA-CAD92F8B834A}" vid="{474225CE-F1F4-49E1-8293-AAF2E62F8B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SPOC Document" ma:contentTypeID="0x010100D21CD732196BCA4DA3AD15741FAAEAB300B4B5CB8B400AFE40A28217962755B872" ma:contentTypeVersion="" ma:contentTypeDescription="Any stored document in SPOC" ma:contentTypeScope="" ma:versionID="a147e246583725666b90d480f2c46a0f">
  <xsd:schema xmlns:xsd="http://www.w3.org/2001/XMLSchema" xmlns:xs="http://www.w3.org/2001/XMLSchema" xmlns:p="http://schemas.microsoft.com/office/2006/metadata/properties" xmlns:ns2="c9d748f5-5876-47e9-a303-3a7826611e35" targetNamespace="http://schemas.microsoft.com/office/2006/metadata/properties" ma:root="true" ma:fieldsID="67de9deb72ad5d422c0858f1c758fe77" ns2:_="">
    <xsd:import namespace="c9d748f5-5876-47e9-a303-3a7826611e35"/>
    <xsd:element name="properties">
      <xsd:complexType>
        <xsd:sequence>
          <xsd:element name="documentManagement">
            <xsd:complexType>
              <xsd:all>
                <xsd:element ref="ns2:pc0d98ad5e2642f89c606050aa6933af" minOccurs="0"/>
                <xsd:element ref="ns2:TaxCatchAll" minOccurs="0"/>
                <xsd:element ref="ns2:TaxCatchAllLabel" minOccurs="0"/>
                <xsd:element ref="ns2:p9556c49ba1a4ec09f00832b84beee22" minOccurs="0"/>
                <xsd:element ref="ns2:b235e3f0792140ffbb730e52789f9435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d748f5-5876-47e9-a303-3a7826611e35" elementFormDefault="qualified">
    <xsd:import namespace="http://schemas.microsoft.com/office/2006/documentManagement/types"/>
    <xsd:import namespace="http://schemas.microsoft.com/office/infopath/2007/PartnerControls"/>
    <xsd:element name="pc0d98ad5e2642f89c606050aa6933af" ma:index="8" ma:taxonomy="true" ma:internalName="pc0d98ad5e2642f89c606050aa6933af" ma:taxonomyFieldName="SPOCDocType" ma:displayName="SPOC DocType" ma:default="" ma:fieldId="{9c0d98ad-5e26-42f8-9c60-6050aa6933af}" ma:sspId="f25094d8-76ab-4d6b-88a7-2b66e0abe62d" ma:termSetId="e2647def-8179-40a2-aff3-89d3333a18b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a714be83-99a2-4762-87a8-d84bb9bc2de8}" ma:internalName="TaxCatchAll" ma:showField="CatchAllData" ma:web="c9d748f5-5876-47e9-a303-3a7826611e3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a714be83-99a2-4762-87a8-d84bb9bc2de8}" ma:internalName="TaxCatchAllLabel" ma:readOnly="true" ma:showField="CatchAllDataLabel" ma:web="c9d748f5-5876-47e9-a303-3a7826611e3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9556c49ba1a4ec09f00832b84beee22" ma:index="12" ma:taxonomy="true" ma:internalName="p9556c49ba1a4ec09f00832b84beee22" ma:taxonomyFieldName="SPOCLanguage" ma:displayName="SPOC Language" ma:default="" ma:fieldId="{99556c49-ba1a-4ec0-9f00-832b84beee22}" ma:taxonomyMulti="true" ma:sspId="f25094d8-76ab-4d6b-88a7-2b66e0abe62d" ma:termSetId="3669b949-c6bf-4656-bd7a-bb8125f2c65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b235e3f0792140ffbb730e52789f9435" ma:index="14" ma:taxonomy="true" ma:internalName="b235e3f0792140ffbb730e52789f9435" ma:taxonomyFieldName="SPOCTopic" ma:displayName="SPOC Topic" ma:default="" ma:fieldId="{b235e3f0-7921-40ff-bb73-0e52789f9435}" ma:sspId="f25094d8-76ab-4d6b-88a7-2b66e0abe62d" ma:termSetId="3a64726a-3290-4c07-9d25-34b6040ad915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c0d98ad5e2642f89c606050aa6933af xmlns="c9d748f5-5876-47e9-a303-3a7826611e35">
      <Terms xmlns="http://schemas.microsoft.com/office/infopath/2007/PartnerControls">
        <TermInfo xmlns="http://schemas.microsoft.com/office/infopath/2007/PartnerControls">
          <TermName xmlns="http://schemas.microsoft.com/office/infopath/2007/PartnerControls">Template</TermName>
          <TermId xmlns="http://schemas.microsoft.com/office/infopath/2007/PartnerControls">6147a76d-7c71-4126-9bc5-b71e0ce46930</TermId>
        </TermInfo>
      </Terms>
    </pc0d98ad5e2642f89c606050aa6933af>
    <b235e3f0792140ffbb730e52789f9435 xmlns="c9d748f5-5876-47e9-a303-3a7826611e35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Communication at VIB</TermName>
          <TermId xmlns="http://schemas.microsoft.com/office/infopath/2007/PartnerControls">ec6637b6-7d77-48dd-8d1a-e5ad5a42a5b7</TermId>
        </TermInfo>
      </Terms>
    </b235e3f0792140ffbb730e52789f9435>
    <p9556c49ba1a4ec09f00832b84beee22 xmlns="c9d748f5-5876-47e9-a303-3a7826611e35">
      <Terms xmlns="http://schemas.microsoft.com/office/infopath/2007/PartnerControls">
        <TermInfo xmlns="http://schemas.microsoft.com/office/infopath/2007/PartnerControls">
          <TermName xmlns="http://schemas.microsoft.com/office/infopath/2007/PartnerControls">English</TermName>
          <TermId xmlns="http://schemas.microsoft.com/office/infopath/2007/PartnerControls">cf1ccf97-a177-4e56-a5ce-0b376d8acdb5</TermId>
        </TermInfo>
      </Terms>
    </p9556c49ba1a4ec09f00832b84beee22>
    <TaxCatchAll xmlns="c9d748f5-5876-47e9-a303-3a7826611e35">
      <Value>13</Value>
      <Value>16</Value>
      <Value>2</Value>
    </TaxCatchAll>
  </documentManagement>
</p:properties>
</file>

<file path=customXml/itemProps1.xml><?xml version="1.0" encoding="utf-8"?>
<ds:datastoreItem xmlns:ds="http://schemas.openxmlformats.org/officeDocument/2006/customXml" ds:itemID="{E8CE217E-83C8-4F4B-A3FE-FFAA57CF9B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d748f5-5876-47e9-a303-3a7826611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5B7C33D-E00A-42DB-8DE7-3BB3D39E1F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D297F28-CAF5-4A01-A1F0-D0775725C31F}">
  <ds:schemaRefs>
    <ds:schemaRef ds:uri="c9d748f5-5876-47e9-a303-3a7826611e35"/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VIB_PPT_template</Template>
  <TotalTime>0</TotalTime>
  <Words>1120</Words>
  <Application>Microsoft Office PowerPoint</Application>
  <PresentationFormat>Widescreen</PresentationFormat>
  <Paragraphs>208</Paragraphs>
  <Slides>29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Arial</vt:lpstr>
      <vt:lpstr>Calibri</vt:lpstr>
      <vt:lpstr>Consolas</vt:lpstr>
      <vt:lpstr>Constantia</vt:lpstr>
      <vt:lpstr>Corbel</vt:lpstr>
      <vt:lpstr>HelveticaNeue Regular</vt:lpstr>
      <vt:lpstr>IBM Plex Sans</vt:lpstr>
      <vt:lpstr>Wingdings</vt:lpstr>
      <vt:lpstr>VIB_template_new</vt:lpstr>
      <vt:lpstr>Ilastik</vt:lpstr>
      <vt:lpstr>Segmentation is THE bottleneck of image analysis</vt:lpstr>
      <vt:lpstr>PowerPoint Presentation</vt:lpstr>
      <vt:lpstr>Ilastik</vt:lpstr>
      <vt:lpstr>PowerPoint Presentation</vt:lpstr>
      <vt:lpstr>Ilastik Worflows</vt:lpstr>
      <vt:lpstr>Ilastik Worflows</vt:lpstr>
      <vt:lpstr>Ilastik Worflows</vt:lpstr>
      <vt:lpstr>Pixel Classifier</vt:lpstr>
      <vt:lpstr>Pixel Classifier</vt:lpstr>
      <vt:lpstr>Pixel Classifier</vt:lpstr>
      <vt:lpstr>Pixel Classifier</vt:lpstr>
      <vt:lpstr>Pixel Classifier</vt:lpstr>
      <vt:lpstr>Pixel Classifier</vt:lpstr>
      <vt:lpstr>Pixel Classifier</vt:lpstr>
      <vt:lpstr>Pixel Classifier</vt:lpstr>
      <vt:lpstr>Exercice : Pixel Classifier of a 3D dataset</vt:lpstr>
      <vt:lpstr>Exercice : Pixel Classifier of a 3D dataset</vt:lpstr>
      <vt:lpstr>Creating an Ilastik Object Classifier Model</vt:lpstr>
      <vt:lpstr>Input data</vt:lpstr>
      <vt:lpstr>Object Creation: Threshold and Size filter</vt:lpstr>
      <vt:lpstr>Viewer</vt:lpstr>
      <vt:lpstr>How to separate touching objects</vt:lpstr>
      <vt:lpstr>Object feature selection</vt:lpstr>
      <vt:lpstr>Object classification – Training the classifier</vt:lpstr>
      <vt:lpstr>Object information export</vt:lpstr>
      <vt:lpstr>Blockwise object classification</vt:lpstr>
      <vt:lpstr>Further learning </vt:lpstr>
      <vt:lpstr>PowerPoint Presentation</vt:lpstr>
    </vt:vector>
  </TitlesOfParts>
  <Company>KULeuven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Capita Selecta</dc:title>
  <dc:creator>Benjamin Pavie</dc:creator>
  <cp:lastModifiedBy>Benjamin Pavie</cp:lastModifiedBy>
  <cp:revision>532</cp:revision>
  <dcterms:created xsi:type="dcterms:W3CDTF">2017-01-24T12:12:07Z</dcterms:created>
  <dcterms:modified xsi:type="dcterms:W3CDTF">2026-09-23T15:58:19Z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0x010100D21CD732196BCA4DA3AD15741FAAEAB300B4B5CB8B400AFE40A28217962755B872</vt:lpwstr>
  </property>
  <property fmtid="{D5CDD505-2E9C-101B-9397-08002B2CF9AE}" pid="3" name="SPOCTopic">
    <vt:lpwstr>2;#Communication at VIB|ec6637b6-7d77-48dd-8d1a-e5ad5a42a5b7</vt:lpwstr>
  </property>
  <property fmtid="{D5CDD505-2E9C-101B-9397-08002B2CF9AE}" pid="4" name="SPOCLanguage">
    <vt:lpwstr>13;#English|cf1ccf97-a177-4e56-a5ce-0b376d8acdb5</vt:lpwstr>
  </property>
  <property fmtid="{D5CDD505-2E9C-101B-9397-08002B2CF9AE}" pid="5" name="SPOCDocType">
    <vt:lpwstr>16;#Template|6147a76d-7c71-4126-9bc5-b71e0ce46930</vt:lpwstr>
  </property>
</Properties>
</file>